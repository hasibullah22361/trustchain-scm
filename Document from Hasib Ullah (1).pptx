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3498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project name and one-line pitch: we're building a supply-chain finance platform where blockchain provides trust, AI provides fraud detection, and SQL provides the analytics backbone. Tell students this deck walks through each module, the tools required, and what to build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so students know what's coming. Emphasize slide 3 (tools per module) — that's the part they'll want to screenshot or note down.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motivation before showing the solution. This is a real pain point in trade finance — multiple parties, no shared source of truth, and fraud that's easy to hide across siloed records.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this isn't three technologies glued together for buzzword coverage. Each one does a job the others can't. Ask students: 'why not just use a database for everything?' — answer: no single party owns a database everyone trusts equally.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Emphasize the event listener as the bridge — it's the piece most teams underestimate. Mention the simplified path for teams skipping the real testnet.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or let students self-select roles now, before moving into the tool-by-module breakdown.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layer. Explain that the contract is deliberately minimal at first — three functions, three events, no access control — because the grading value is in the working end-to-end pipeline, not contract complexity. Mention the simulated hash-chain fallback for teams short on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designing this schema FIRST, in week 1, even before the blockchain or AI pieces are ready — it lets the whole team parallelize instead of waiting on each other.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use scale_pos_weight instead of manual resampling — simpler and avoids known resampling pitfalls. Also stress reporting precision/recall/F1 per class, not raw accuracy, since fraud is the minority class.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all four modules become one visible product. Remind students not to over-invest in UI polish — the grading value is in showing the full pipeline working, live, end to end.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to leave up while students take notes or photograph the screen — it's the condensed version of the four module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phases. Flag weeks 3–6 as the highest-risk window (blockchain + integration debugging) and encourage teams to start integration testing early, not at week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grading weight per item if your rubric assigns different point values to each deliverable.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mistakes that most commonly cost teams points — worth repeating at the midpoint check-in too.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Remind teams where the reference docs (student guide + this deck) will be shared.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8351215" y="-2011680"/>
            <a:ext cx="6400800" cy="6400800"/>
          </a:xfrm>
          <a:prstGeom prst="ellipse">
            <a:avLst/>
          </a:prstGeom>
          <a:solidFill>
            <a:srgbClr val="028090">
              <a:alpha val="30000"/>
            </a:srgbClr>
          </a:solidFill>
          <a:ln/>
        </p:spPr>
        <p:txBody>
          <a:bodyPr/>
          <a:lstStyle/>
          <a:p>
            <a:endParaRPr lang="en-US"/>
          </a:p>
        </p:txBody>
      </p:sp>
      <p:sp>
        <p:nvSpPr>
          <p:cNvPr id="3" name="Shape 1"/>
          <p:cNvSpPr/>
          <p:nvPr/>
        </p:nvSpPr>
        <p:spPr>
          <a:xfrm>
            <a:off x="-2286000" y="4297680"/>
            <a:ext cx="4572000" cy="4572000"/>
          </a:xfrm>
          <a:prstGeom prst="ellipse">
            <a:avLst/>
          </a:prstGeom>
          <a:solidFill>
            <a:srgbClr val="00A896">
              <a:alpha val="20000"/>
            </a:srgbClr>
          </a:solidFill>
          <a:ln/>
        </p:spPr>
        <p:txBody>
          <a:bodyPr/>
          <a:lstStyle/>
          <a:p>
            <a:endParaRPr lang="en-US"/>
          </a:p>
        </p:txBody>
      </p:sp>
      <p:sp>
        <p:nvSpPr>
          <p:cNvPr id="4" name="Shape 2"/>
          <p:cNvSpPr/>
          <p:nvPr/>
        </p:nvSpPr>
        <p:spPr>
          <a:xfrm>
            <a:off x="548640" y="640080"/>
            <a:ext cx="502920" cy="502920"/>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5" name="Text 3"/>
          <p:cNvSpPr/>
          <p:nvPr/>
        </p:nvSpPr>
        <p:spPr>
          <a:xfrm>
            <a:off x="548640" y="64008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TC</a:t>
            </a:r>
            <a:endParaRPr lang="en-US" sz="1200" dirty="0"/>
          </a:p>
        </p:txBody>
      </p:sp>
      <p:sp>
        <p:nvSpPr>
          <p:cNvPr id="6" name="Text 4"/>
          <p:cNvSpPr/>
          <p:nvPr/>
        </p:nvSpPr>
        <p:spPr>
          <a:xfrm>
            <a:off x="548640" y="2331720"/>
            <a:ext cx="9144000" cy="365760"/>
          </a:xfrm>
          <a:prstGeom prst="rect">
            <a:avLst/>
          </a:prstGeom>
          <a:noFill/>
          <a:ln/>
        </p:spPr>
        <p:txBody>
          <a:bodyPr wrap="square" lIns="0" tIns="0" rIns="0" bIns="0" rtlCol="0" anchor="ctr"/>
          <a:lstStyle/>
          <a:p>
            <a:pPr marL="0" indent="0">
              <a:buNone/>
            </a:pPr>
            <a:r>
              <a:rPr lang="en-US" sz="1500" b="1" kern="0" spc="300" dirty="0">
                <a:solidFill>
                  <a:srgbClr val="02C39A"/>
                </a:solidFill>
                <a:latin typeface="Calibri" pitchFamily="34" charset="0"/>
                <a:ea typeface="Calibri" pitchFamily="34" charset="-122"/>
                <a:cs typeface="Calibri" pitchFamily="34" charset="-120"/>
              </a:rPr>
              <a:t>COURSE PROJECT WALKTHROUGH</a:t>
            </a:r>
            <a:endParaRPr lang="en-US" sz="1500" dirty="0"/>
          </a:p>
        </p:txBody>
      </p:sp>
      <p:sp>
        <p:nvSpPr>
          <p:cNvPr id="7" name="Text 5"/>
          <p:cNvSpPr/>
          <p:nvPr/>
        </p:nvSpPr>
        <p:spPr>
          <a:xfrm>
            <a:off x="548640" y="2697480"/>
            <a:ext cx="10515600" cy="118872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TrustChain SCM</a:t>
            </a:r>
            <a:endParaRPr lang="en-US" sz="5400" dirty="0"/>
          </a:p>
        </p:txBody>
      </p:sp>
      <p:sp>
        <p:nvSpPr>
          <p:cNvPr id="8" name="Text 6"/>
          <p:cNvSpPr/>
          <p:nvPr/>
        </p:nvSpPr>
        <p:spPr>
          <a:xfrm>
            <a:off x="548640" y="3794760"/>
            <a:ext cx="9601200" cy="502920"/>
          </a:xfrm>
          <a:prstGeom prst="rect">
            <a:avLst/>
          </a:prstGeom>
          <a:noFill/>
          <a:ln/>
        </p:spPr>
        <p:txBody>
          <a:bodyPr wrap="square" lIns="0" tIns="0" rIns="0" bIns="0" rtlCol="0" anchor="ctr"/>
          <a:lstStyle/>
          <a:p>
            <a:pPr marL="0" indent="0">
              <a:buNone/>
            </a:pPr>
            <a:r>
              <a:rPr lang="en-US" sz="2100" i="1" dirty="0">
                <a:solidFill>
                  <a:srgbClr val="CFEDEA"/>
                </a:solidFill>
                <a:latin typeface="Calibri" pitchFamily="34" charset="0"/>
                <a:ea typeface="Calibri" pitchFamily="34" charset="-122"/>
                <a:cs typeface="Calibri" pitchFamily="34" charset="-120"/>
              </a:rPr>
              <a:t>AI-Powered Supply Chain Finance &amp; Fraud Detection</a:t>
            </a:r>
            <a:endParaRPr lang="en-US" sz="2100" dirty="0"/>
          </a:p>
        </p:txBody>
      </p:sp>
      <p:sp>
        <p:nvSpPr>
          <p:cNvPr id="9" name="Shape 7"/>
          <p:cNvSpPr/>
          <p:nvPr/>
        </p:nvSpPr>
        <p:spPr>
          <a:xfrm>
            <a:off x="548640" y="4572000"/>
            <a:ext cx="1325880" cy="384048"/>
          </a:xfrm>
          <a:prstGeom prst="roundRect">
            <a:avLst>
              <a:gd name="adj" fmla="val 50000"/>
            </a:avLst>
          </a:prstGeom>
          <a:solidFill>
            <a:srgbClr val="028090">
              <a:alpha val="80000"/>
            </a:srgbClr>
          </a:solidFill>
          <a:ln w="12700">
            <a:solidFill>
              <a:srgbClr val="00A896"/>
            </a:solidFill>
            <a:prstDash val="solid"/>
          </a:ln>
        </p:spPr>
        <p:txBody>
          <a:bodyPr/>
          <a:lstStyle/>
          <a:p>
            <a:endParaRPr lang="en-US"/>
          </a:p>
        </p:txBody>
      </p:sp>
      <p:sp>
        <p:nvSpPr>
          <p:cNvPr id="10" name="Text 8"/>
          <p:cNvSpPr/>
          <p:nvPr/>
        </p:nvSpPr>
        <p:spPr>
          <a:xfrm>
            <a:off x="548640" y="4572000"/>
            <a:ext cx="13258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BLOCKCHAIN</a:t>
            </a:r>
            <a:endParaRPr lang="en-US" sz="1100" dirty="0"/>
          </a:p>
        </p:txBody>
      </p:sp>
      <p:sp>
        <p:nvSpPr>
          <p:cNvPr id="11" name="Shape 9"/>
          <p:cNvSpPr/>
          <p:nvPr/>
        </p:nvSpPr>
        <p:spPr>
          <a:xfrm>
            <a:off x="2075688" y="4572000"/>
            <a:ext cx="2633472" cy="384048"/>
          </a:xfrm>
          <a:prstGeom prst="roundRect">
            <a:avLst>
              <a:gd name="adj" fmla="val 50000"/>
            </a:avLst>
          </a:prstGeom>
          <a:solidFill>
            <a:srgbClr val="028090">
              <a:alpha val="80000"/>
            </a:srgbClr>
          </a:solidFill>
          <a:ln w="12700">
            <a:solidFill>
              <a:srgbClr val="00A896"/>
            </a:solidFill>
            <a:prstDash val="solid"/>
          </a:ln>
        </p:spPr>
        <p:txBody>
          <a:bodyPr/>
          <a:lstStyle/>
          <a:p>
            <a:endParaRPr lang="en-US"/>
          </a:p>
        </p:txBody>
      </p:sp>
      <p:sp>
        <p:nvSpPr>
          <p:cNvPr id="12" name="Text 10"/>
          <p:cNvSpPr/>
          <p:nvPr/>
        </p:nvSpPr>
        <p:spPr>
          <a:xfrm>
            <a:off x="2075688" y="4572000"/>
            <a:ext cx="263347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ARTIFICIAL INTELLIGENCE</a:t>
            </a:r>
            <a:endParaRPr lang="en-US" sz="1100" dirty="0"/>
          </a:p>
        </p:txBody>
      </p:sp>
      <p:sp>
        <p:nvSpPr>
          <p:cNvPr id="13" name="Shape 11"/>
          <p:cNvSpPr/>
          <p:nvPr/>
        </p:nvSpPr>
        <p:spPr>
          <a:xfrm>
            <a:off x="4910328" y="4572000"/>
            <a:ext cx="621792" cy="384048"/>
          </a:xfrm>
          <a:prstGeom prst="roundRect">
            <a:avLst>
              <a:gd name="adj" fmla="val 50000"/>
            </a:avLst>
          </a:prstGeom>
          <a:solidFill>
            <a:srgbClr val="028090">
              <a:alpha val="80000"/>
            </a:srgbClr>
          </a:solidFill>
          <a:ln w="12700">
            <a:solidFill>
              <a:srgbClr val="00A896"/>
            </a:solidFill>
            <a:prstDash val="solid"/>
          </a:ln>
        </p:spPr>
        <p:txBody>
          <a:bodyPr/>
          <a:lstStyle/>
          <a:p>
            <a:endParaRPr lang="en-US"/>
          </a:p>
        </p:txBody>
      </p:sp>
      <p:sp>
        <p:nvSpPr>
          <p:cNvPr id="14" name="Text 12"/>
          <p:cNvSpPr/>
          <p:nvPr/>
        </p:nvSpPr>
        <p:spPr>
          <a:xfrm>
            <a:off x="4910328" y="4572000"/>
            <a:ext cx="62179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SQL</a:t>
            </a:r>
            <a:endParaRPr lang="en-US" sz="1100" dirty="0"/>
          </a:p>
        </p:txBody>
      </p:sp>
      <p:sp>
        <p:nvSpPr>
          <p:cNvPr id="15" name="Text 13"/>
          <p:cNvSpPr/>
          <p:nvPr/>
        </p:nvSpPr>
        <p:spPr>
          <a:xfrm>
            <a:off x="548640" y="6126480"/>
            <a:ext cx="9144000" cy="365760"/>
          </a:xfrm>
          <a:prstGeom prst="rect">
            <a:avLst/>
          </a:prstGeom>
          <a:noFill/>
          <a:ln/>
        </p:spPr>
        <p:txBody>
          <a:bodyPr wrap="square" lIns="0" tIns="0" rIns="0" bIns="0" rtlCol="0" anchor="ctr"/>
          <a:lstStyle/>
          <a:p>
            <a:pPr marL="0" indent="0">
              <a:buNone/>
            </a:pPr>
            <a:r>
              <a:rPr lang="en-US" sz="1300" dirty="0">
                <a:solidFill>
                  <a:srgbClr val="8FB9B4"/>
                </a:solidFill>
                <a:latin typeface="Calibri" pitchFamily="34" charset="0"/>
                <a:ea typeface="Calibri" pitchFamily="34" charset="-122"/>
                <a:cs typeface="Calibri" pitchFamily="34" charset="-120"/>
              </a:rPr>
              <a:t>Instructor Walkthrough Deck  •  Present to guide student teams module by module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What We'll Cover Today</a:t>
            </a:r>
            <a:endParaRPr lang="en-US" sz="3200" dirty="0"/>
          </a:p>
        </p:txBody>
      </p:sp>
      <p:sp>
        <p:nvSpPr>
          <p:cNvPr id="4" name="Shape 2"/>
          <p:cNvSpPr/>
          <p:nvPr/>
        </p:nvSpPr>
        <p:spPr>
          <a:xfrm>
            <a:off x="548640" y="1691640"/>
            <a:ext cx="502920" cy="50292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5" name="Text 3"/>
          <p:cNvSpPr/>
          <p:nvPr/>
        </p:nvSpPr>
        <p:spPr>
          <a:xfrm>
            <a:off x="548640" y="169164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325880" y="1664208"/>
            <a:ext cx="8686800" cy="365760"/>
          </a:xfrm>
          <a:prstGeom prst="rect">
            <a:avLst/>
          </a:prstGeom>
          <a:noFill/>
          <a:ln/>
        </p:spPr>
        <p:txBody>
          <a:bodyPr wrap="square" lIns="0" tIns="0" rIns="0" bIns="0" rtlCol="0" anchor="ctr"/>
          <a:lstStyle/>
          <a:p>
            <a:pPr marL="0" indent="0">
              <a:buNone/>
            </a:pPr>
            <a:r>
              <a:rPr lang="en-US" sz="1800" b="1" dirty="0">
                <a:solidFill>
                  <a:srgbClr val="1B2B34"/>
                </a:solidFill>
                <a:latin typeface="Calibri" pitchFamily="34" charset="0"/>
                <a:ea typeface="Calibri" pitchFamily="34" charset="-122"/>
                <a:cs typeface="Calibri" pitchFamily="34" charset="-120"/>
              </a:rPr>
              <a:t>The Problem &amp; The Solution</a:t>
            </a:r>
            <a:endParaRPr lang="en-US" sz="1800" dirty="0"/>
          </a:p>
        </p:txBody>
      </p:sp>
      <p:sp>
        <p:nvSpPr>
          <p:cNvPr id="7" name="Text 5"/>
          <p:cNvSpPr/>
          <p:nvPr/>
        </p:nvSpPr>
        <p:spPr>
          <a:xfrm>
            <a:off x="1325880" y="2039112"/>
            <a:ext cx="9601200" cy="36576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Why supply chain finance needs this, in plain terms</a:t>
            </a:r>
            <a:endParaRPr lang="en-US" sz="1300" dirty="0"/>
          </a:p>
        </p:txBody>
      </p:sp>
      <p:sp>
        <p:nvSpPr>
          <p:cNvPr id="8" name="Shape 6"/>
          <p:cNvSpPr/>
          <p:nvPr/>
        </p:nvSpPr>
        <p:spPr>
          <a:xfrm>
            <a:off x="548640" y="2587752"/>
            <a:ext cx="502920" cy="50292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9" name="Text 7"/>
          <p:cNvSpPr/>
          <p:nvPr/>
        </p:nvSpPr>
        <p:spPr>
          <a:xfrm>
            <a:off x="548640" y="2587752"/>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325880" y="2560320"/>
            <a:ext cx="8686800" cy="365760"/>
          </a:xfrm>
          <a:prstGeom prst="rect">
            <a:avLst/>
          </a:prstGeom>
          <a:noFill/>
          <a:ln/>
        </p:spPr>
        <p:txBody>
          <a:bodyPr wrap="square" lIns="0" tIns="0" rIns="0" bIns="0" rtlCol="0" anchor="ctr"/>
          <a:lstStyle/>
          <a:p>
            <a:pPr marL="0" indent="0">
              <a:buNone/>
            </a:pPr>
            <a:r>
              <a:rPr lang="en-US" sz="1800" b="1" dirty="0">
                <a:solidFill>
                  <a:srgbClr val="1B2B34"/>
                </a:solidFill>
                <a:latin typeface="Calibri" pitchFamily="34" charset="0"/>
                <a:ea typeface="Calibri" pitchFamily="34" charset="-122"/>
                <a:cs typeface="Calibri" pitchFamily="34" charset="-120"/>
              </a:rPr>
              <a:t>System Architecture</a:t>
            </a:r>
            <a:endParaRPr lang="en-US" sz="1800" dirty="0"/>
          </a:p>
        </p:txBody>
      </p:sp>
      <p:sp>
        <p:nvSpPr>
          <p:cNvPr id="11" name="Text 9"/>
          <p:cNvSpPr/>
          <p:nvPr/>
        </p:nvSpPr>
        <p:spPr>
          <a:xfrm>
            <a:off x="1325880" y="2935224"/>
            <a:ext cx="9601200" cy="36576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How data flows from blockchain to SQL to AI to dashboard</a:t>
            </a:r>
            <a:endParaRPr lang="en-US" sz="1300" dirty="0"/>
          </a:p>
        </p:txBody>
      </p:sp>
      <p:sp>
        <p:nvSpPr>
          <p:cNvPr id="12" name="Shape 10"/>
          <p:cNvSpPr/>
          <p:nvPr/>
        </p:nvSpPr>
        <p:spPr>
          <a:xfrm>
            <a:off x="548640" y="3483864"/>
            <a:ext cx="502920" cy="50292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3" name="Text 11"/>
          <p:cNvSpPr/>
          <p:nvPr/>
        </p:nvSpPr>
        <p:spPr>
          <a:xfrm>
            <a:off x="548640" y="3483864"/>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1325880" y="3456432"/>
            <a:ext cx="8686800" cy="365760"/>
          </a:xfrm>
          <a:prstGeom prst="rect">
            <a:avLst/>
          </a:prstGeom>
          <a:noFill/>
          <a:ln/>
        </p:spPr>
        <p:txBody>
          <a:bodyPr wrap="square" lIns="0" tIns="0" rIns="0" bIns="0" rtlCol="0" anchor="ctr"/>
          <a:lstStyle/>
          <a:p>
            <a:pPr marL="0" indent="0">
              <a:buNone/>
            </a:pPr>
            <a:r>
              <a:rPr lang="en-US" sz="1800" b="1" dirty="0">
                <a:solidFill>
                  <a:srgbClr val="1B2B34"/>
                </a:solidFill>
                <a:latin typeface="Calibri" pitchFamily="34" charset="0"/>
                <a:ea typeface="Calibri" pitchFamily="34" charset="-122"/>
                <a:cs typeface="Calibri" pitchFamily="34" charset="-120"/>
              </a:rPr>
              <a:t>Tools for Each Module</a:t>
            </a:r>
            <a:endParaRPr lang="en-US" sz="1800" dirty="0"/>
          </a:p>
        </p:txBody>
      </p:sp>
      <p:sp>
        <p:nvSpPr>
          <p:cNvPr id="15" name="Text 13"/>
          <p:cNvSpPr/>
          <p:nvPr/>
        </p:nvSpPr>
        <p:spPr>
          <a:xfrm>
            <a:off x="1325880" y="3831336"/>
            <a:ext cx="9601200" cy="36576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Exactly what to install and why, module by module</a:t>
            </a:r>
            <a:endParaRPr lang="en-US" sz="1300" dirty="0"/>
          </a:p>
        </p:txBody>
      </p:sp>
      <p:sp>
        <p:nvSpPr>
          <p:cNvPr id="16" name="Shape 14"/>
          <p:cNvSpPr/>
          <p:nvPr/>
        </p:nvSpPr>
        <p:spPr>
          <a:xfrm>
            <a:off x="548640" y="4379976"/>
            <a:ext cx="502920" cy="50292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7" name="Text 15"/>
          <p:cNvSpPr/>
          <p:nvPr/>
        </p:nvSpPr>
        <p:spPr>
          <a:xfrm>
            <a:off x="548640" y="4379976"/>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8" name="Text 16"/>
          <p:cNvSpPr/>
          <p:nvPr/>
        </p:nvSpPr>
        <p:spPr>
          <a:xfrm>
            <a:off x="1325880" y="4352544"/>
            <a:ext cx="8686800" cy="365760"/>
          </a:xfrm>
          <a:prstGeom prst="rect">
            <a:avLst/>
          </a:prstGeom>
          <a:noFill/>
          <a:ln/>
        </p:spPr>
        <p:txBody>
          <a:bodyPr wrap="square" lIns="0" tIns="0" rIns="0" bIns="0" rtlCol="0" anchor="ctr"/>
          <a:lstStyle/>
          <a:p>
            <a:pPr marL="0" indent="0">
              <a:buNone/>
            </a:pPr>
            <a:r>
              <a:rPr lang="en-US" sz="1800" b="1" dirty="0">
                <a:solidFill>
                  <a:srgbClr val="1B2B34"/>
                </a:solidFill>
                <a:latin typeface="Calibri" pitchFamily="34" charset="0"/>
                <a:ea typeface="Calibri" pitchFamily="34" charset="-122"/>
                <a:cs typeface="Calibri" pitchFamily="34" charset="-120"/>
              </a:rPr>
              <a:t>Team Roles &amp; Timeline</a:t>
            </a:r>
            <a:endParaRPr lang="en-US" sz="1800" dirty="0"/>
          </a:p>
        </p:txBody>
      </p:sp>
      <p:sp>
        <p:nvSpPr>
          <p:cNvPr id="19" name="Text 17"/>
          <p:cNvSpPr/>
          <p:nvPr/>
        </p:nvSpPr>
        <p:spPr>
          <a:xfrm>
            <a:off x="1325880" y="4727448"/>
            <a:ext cx="9601200" cy="36576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Who does what, and a realistic 14-week schedule</a:t>
            </a:r>
            <a:endParaRPr lang="en-US" sz="1300" dirty="0"/>
          </a:p>
        </p:txBody>
      </p:sp>
      <p:sp>
        <p:nvSpPr>
          <p:cNvPr id="20" name="Shape 18"/>
          <p:cNvSpPr/>
          <p:nvPr/>
        </p:nvSpPr>
        <p:spPr>
          <a:xfrm>
            <a:off x="548640" y="5276088"/>
            <a:ext cx="502920" cy="50292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21" name="Text 19"/>
          <p:cNvSpPr/>
          <p:nvPr/>
        </p:nvSpPr>
        <p:spPr>
          <a:xfrm>
            <a:off x="548640" y="5276088"/>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2" name="Text 20"/>
          <p:cNvSpPr/>
          <p:nvPr/>
        </p:nvSpPr>
        <p:spPr>
          <a:xfrm>
            <a:off x="1325880" y="5248656"/>
            <a:ext cx="8686800" cy="365760"/>
          </a:xfrm>
          <a:prstGeom prst="rect">
            <a:avLst/>
          </a:prstGeom>
          <a:noFill/>
          <a:ln/>
        </p:spPr>
        <p:txBody>
          <a:bodyPr wrap="square" lIns="0" tIns="0" rIns="0" bIns="0" rtlCol="0" anchor="ctr"/>
          <a:lstStyle/>
          <a:p>
            <a:pPr marL="0" indent="0">
              <a:buNone/>
            </a:pPr>
            <a:r>
              <a:rPr lang="en-US" sz="1800" b="1" dirty="0">
                <a:solidFill>
                  <a:srgbClr val="1B2B34"/>
                </a:solidFill>
                <a:latin typeface="Calibri" pitchFamily="34" charset="0"/>
                <a:ea typeface="Calibri" pitchFamily="34" charset="-122"/>
                <a:cs typeface="Calibri" pitchFamily="34" charset="-120"/>
              </a:rPr>
              <a:t>Deliverables &amp; Demo Plan</a:t>
            </a:r>
            <a:endParaRPr lang="en-US" sz="1800" dirty="0"/>
          </a:p>
        </p:txBody>
      </p:sp>
      <p:sp>
        <p:nvSpPr>
          <p:cNvPr id="23" name="Text 21"/>
          <p:cNvSpPr/>
          <p:nvPr/>
        </p:nvSpPr>
        <p:spPr>
          <a:xfrm>
            <a:off x="1325880" y="5623560"/>
            <a:ext cx="9601200" cy="36576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What you'll submit, and how to demo it live</a:t>
            </a:r>
            <a:endParaRPr lang="en-US" sz="1300" dirty="0"/>
          </a:p>
        </p:txBody>
      </p:sp>
      <p:sp>
        <p:nvSpPr>
          <p:cNvPr id="24" name="Text 22"/>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Why Supply Chain Finance Needs This</a:t>
            </a:r>
            <a:endParaRPr lang="en-US" sz="3200" dirty="0"/>
          </a:p>
        </p:txBody>
      </p:sp>
      <p:sp>
        <p:nvSpPr>
          <p:cNvPr id="4" name="Shape 2"/>
          <p:cNvSpPr/>
          <p:nvPr/>
        </p:nvSpPr>
        <p:spPr>
          <a:xfrm>
            <a:off x="548640" y="1828800"/>
            <a:ext cx="3520440" cy="3291840"/>
          </a:xfrm>
          <a:prstGeom prst="roundRect">
            <a:avLst>
              <a:gd name="adj" fmla="val 3333"/>
            </a:avLst>
          </a:prstGeom>
          <a:solidFill>
            <a:srgbClr val="F2F8F8"/>
          </a:solidFill>
          <a:ln/>
          <a:effectLst>
            <a:outerShdw blurRad="101600" dist="38100" dir="5400000" algn="bl" rotWithShape="0">
              <a:srgbClr val="1B2B34">
                <a:alpha val="12000"/>
              </a:srgbClr>
            </a:outerShdw>
          </a:effectLst>
        </p:spPr>
        <p:txBody>
          <a:bodyPr/>
          <a:lstStyle/>
          <a:p>
            <a:endParaRPr lang="en-US"/>
          </a:p>
        </p:txBody>
      </p:sp>
      <p:sp>
        <p:nvSpPr>
          <p:cNvPr id="5" name="Shape 3"/>
          <p:cNvSpPr/>
          <p:nvPr/>
        </p:nvSpPr>
        <p:spPr>
          <a:xfrm>
            <a:off x="868680" y="2148840"/>
            <a:ext cx="548640" cy="54864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6" name="Text 4"/>
          <p:cNvSpPr/>
          <p:nvPr/>
        </p:nvSpPr>
        <p:spPr>
          <a:xfrm>
            <a:off x="868680" y="214884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822960" y="2880360"/>
            <a:ext cx="2971800" cy="640080"/>
          </a:xfrm>
          <a:prstGeom prst="rect">
            <a:avLst/>
          </a:prstGeom>
          <a:noFill/>
          <a:ln/>
        </p:spPr>
        <p:txBody>
          <a:bodyPr wrap="square" lIns="0" tIns="0" rIns="0" bIns="0" rtlCol="0" anchor="ctr"/>
          <a:lstStyle/>
          <a:p>
            <a:pPr marL="0" indent="0">
              <a:buNone/>
            </a:pPr>
            <a:r>
              <a:rPr lang="en-US" sz="1700" b="1" dirty="0">
                <a:solidFill>
                  <a:srgbClr val="1B2B34"/>
                </a:solidFill>
                <a:latin typeface="Calibri" pitchFamily="34" charset="0"/>
                <a:ea typeface="Calibri" pitchFamily="34" charset="-122"/>
                <a:cs typeface="Calibri" pitchFamily="34" charset="-120"/>
              </a:rPr>
              <a:t>No Shared Trust</a:t>
            </a:r>
            <a:endParaRPr lang="en-US" sz="1700" dirty="0"/>
          </a:p>
        </p:txBody>
      </p:sp>
      <p:sp>
        <p:nvSpPr>
          <p:cNvPr id="8" name="Text 6"/>
          <p:cNvSpPr/>
          <p:nvPr/>
        </p:nvSpPr>
        <p:spPr>
          <a:xfrm>
            <a:off x="822960" y="3520440"/>
            <a:ext cx="2971800" cy="1463040"/>
          </a:xfrm>
          <a:prstGeom prst="rect">
            <a:avLst/>
          </a:prstGeom>
          <a:noFill/>
          <a:ln/>
        </p:spPr>
        <p:txBody>
          <a:bodyPr wrap="square" lIns="0" tIns="0" rIns="0" bIns="0" rtlCol="0" anchor="t"/>
          <a:lstStyle/>
          <a:p>
            <a:pPr marL="0" indent="0">
              <a:buNone/>
            </a:pPr>
            <a:r>
              <a:rPr lang="en-US" sz="1300" dirty="0">
                <a:solidFill>
                  <a:srgbClr val="5C6B73"/>
                </a:solidFill>
                <a:latin typeface="Calibri" pitchFamily="34" charset="0"/>
                <a:ea typeface="Calibri" pitchFamily="34" charset="-122"/>
                <a:cs typeface="Calibri" pitchFamily="34" charset="-120"/>
              </a:rPr>
              <a:t>Supplier, buyer, and lender each keep their own records — nothing stops duplicate or falsified invoices.</a:t>
            </a:r>
            <a:endParaRPr lang="en-US" sz="1300" dirty="0"/>
          </a:p>
        </p:txBody>
      </p:sp>
      <p:sp>
        <p:nvSpPr>
          <p:cNvPr id="9" name="Shape 7"/>
          <p:cNvSpPr/>
          <p:nvPr/>
        </p:nvSpPr>
        <p:spPr>
          <a:xfrm>
            <a:off x="4297680" y="1828800"/>
            <a:ext cx="3520440" cy="3291840"/>
          </a:xfrm>
          <a:prstGeom prst="roundRect">
            <a:avLst>
              <a:gd name="adj" fmla="val 3333"/>
            </a:avLst>
          </a:prstGeom>
          <a:solidFill>
            <a:srgbClr val="F2F8F8"/>
          </a:solidFill>
          <a:ln/>
          <a:effectLst>
            <a:outerShdw blurRad="101600" dist="38100" dir="5400000" algn="bl" rotWithShape="0">
              <a:srgbClr val="1B2B34">
                <a:alpha val="12000"/>
              </a:srgbClr>
            </a:outerShdw>
          </a:effectLst>
        </p:spPr>
        <p:txBody>
          <a:bodyPr/>
          <a:lstStyle/>
          <a:p>
            <a:endParaRPr lang="en-US"/>
          </a:p>
        </p:txBody>
      </p:sp>
      <p:sp>
        <p:nvSpPr>
          <p:cNvPr id="10" name="Shape 8"/>
          <p:cNvSpPr/>
          <p:nvPr/>
        </p:nvSpPr>
        <p:spPr>
          <a:xfrm>
            <a:off x="4617720" y="2148840"/>
            <a:ext cx="548640" cy="54864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1" name="Text 9"/>
          <p:cNvSpPr/>
          <p:nvPr/>
        </p:nvSpPr>
        <p:spPr>
          <a:xfrm>
            <a:off x="4617720" y="214884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4572000" y="2880360"/>
            <a:ext cx="2971800" cy="640080"/>
          </a:xfrm>
          <a:prstGeom prst="rect">
            <a:avLst/>
          </a:prstGeom>
          <a:noFill/>
          <a:ln/>
        </p:spPr>
        <p:txBody>
          <a:bodyPr wrap="square" lIns="0" tIns="0" rIns="0" bIns="0" rtlCol="0" anchor="ctr"/>
          <a:lstStyle/>
          <a:p>
            <a:pPr marL="0" indent="0">
              <a:buNone/>
            </a:pPr>
            <a:r>
              <a:rPr lang="en-US" sz="1700" b="1" dirty="0">
                <a:solidFill>
                  <a:srgbClr val="1B2B34"/>
                </a:solidFill>
                <a:latin typeface="Calibri" pitchFamily="34" charset="0"/>
                <a:ea typeface="Calibri" pitchFamily="34" charset="-122"/>
                <a:cs typeface="Calibri" pitchFamily="34" charset="-120"/>
              </a:rPr>
              <a:t>Fraud Goes Undetected</a:t>
            </a:r>
            <a:endParaRPr lang="en-US" sz="1700" dirty="0"/>
          </a:p>
        </p:txBody>
      </p:sp>
      <p:sp>
        <p:nvSpPr>
          <p:cNvPr id="13" name="Text 11"/>
          <p:cNvSpPr/>
          <p:nvPr/>
        </p:nvSpPr>
        <p:spPr>
          <a:xfrm>
            <a:off x="4572000" y="3520440"/>
            <a:ext cx="2971800" cy="1463040"/>
          </a:xfrm>
          <a:prstGeom prst="rect">
            <a:avLst/>
          </a:prstGeom>
          <a:noFill/>
          <a:ln/>
        </p:spPr>
        <p:txBody>
          <a:bodyPr wrap="square" lIns="0" tIns="0" rIns="0" bIns="0" rtlCol="0" anchor="t"/>
          <a:lstStyle/>
          <a:p>
            <a:pPr marL="0" indent="0">
              <a:buNone/>
            </a:pPr>
            <a:r>
              <a:rPr lang="en-US" sz="1300" dirty="0">
                <a:solidFill>
                  <a:srgbClr val="5C6B73"/>
                </a:solidFill>
                <a:latin typeface="Calibri" pitchFamily="34" charset="0"/>
                <a:ea typeface="Calibri" pitchFamily="34" charset="-122"/>
                <a:cs typeface="Calibri" pitchFamily="34" charset="-120"/>
              </a:rPr>
              <a:t>Manual review can't scale to catch subtle timing or amount anomalies across many transactions.</a:t>
            </a:r>
            <a:endParaRPr lang="en-US" sz="1300" dirty="0"/>
          </a:p>
        </p:txBody>
      </p:sp>
      <p:sp>
        <p:nvSpPr>
          <p:cNvPr id="14" name="Shape 12"/>
          <p:cNvSpPr/>
          <p:nvPr/>
        </p:nvSpPr>
        <p:spPr>
          <a:xfrm>
            <a:off x="8046720" y="1828800"/>
            <a:ext cx="3520440" cy="3291840"/>
          </a:xfrm>
          <a:prstGeom prst="roundRect">
            <a:avLst>
              <a:gd name="adj" fmla="val 3333"/>
            </a:avLst>
          </a:prstGeom>
          <a:solidFill>
            <a:srgbClr val="F2F8F8"/>
          </a:solidFill>
          <a:ln/>
          <a:effectLst>
            <a:outerShdw blurRad="101600" dist="38100" dir="5400000" algn="bl" rotWithShape="0">
              <a:srgbClr val="1B2B34">
                <a:alpha val="12000"/>
              </a:srgbClr>
            </a:outerShdw>
          </a:effectLst>
        </p:spPr>
        <p:txBody>
          <a:bodyPr/>
          <a:lstStyle/>
          <a:p>
            <a:endParaRPr lang="en-US"/>
          </a:p>
        </p:txBody>
      </p:sp>
      <p:sp>
        <p:nvSpPr>
          <p:cNvPr id="15" name="Shape 13"/>
          <p:cNvSpPr/>
          <p:nvPr/>
        </p:nvSpPr>
        <p:spPr>
          <a:xfrm>
            <a:off x="8366760" y="2148840"/>
            <a:ext cx="548640" cy="54864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6" name="Text 14"/>
          <p:cNvSpPr/>
          <p:nvPr/>
        </p:nvSpPr>
        <p:spPr>
          <a:xfrm>
            <a:off x="8366760" y="214884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8321040" y="2880360"/>
            <a:ext cx="2971800" cy="640080"/>
          </a:xfrm>
          <a:prstGeom prst="rect">
            <a:avLst/>
          </a:prstGeom>
          <a:noFill/>
          <a:ln/>
        </p:spPr>
        <p:txBody>
          <a:bodyPr wrap="square" lIns="0" tIns="0" rIns="0" bIns="0" rtlCol="0" anchor="ctr"/>
          <a:lstStyle/>
          <a:p>
            <a:pPr marL="0" indent="0">
              <a:buNone/>
            </a:pPr>
            <a:r>
              <a:rPr lang="en-US" sz="1700" b="1" dirty="0">
                <a:solidFill>
                  <a:srgbClr val="1B2B34"/>
                </a:solidFill>
                <a:latin typeface="Calibri" pitchFamily="34" charset="0"/>
                <a:ea typeface="Calibri" pitchFamily="34" charset="-122"/>
                <a:cs typeface="Calibri" pitchFamily="34" charset="-120"/>
              </a:rPr>
              <a:t>No Unified Analytics</a:t>
            </a:r>
            <a:endParaRPr lang="en-US" sz="1700" dirty="0"/>
          </a:p>
        </p:txBody>
      </p:sp>
      <p:sp>
        <p:nvSpPr>
          <p:cNvPr id="18" name="Text 16"/>
          <p:cNvSpPr/>
          <p:nvPr/>
        </p:nvSpPr>
        <p:spPr>
          <a:xfrm>
            <a:off x="8321040" y="3520440"/>
            <a:ext cx="2971800" cy="1463040"/>
          </a:xfrm>
          <a:prstGeom prst="rect">
            <a:avLst/>
          </a:prstGeom>
          <a:noFill/>
          <a:ln/>
        </p:spPr>
        <p:txBody>
          <a:bodyPr wrap="square" lIns="0" tIns="0" rIns="0" bIns="0" rtlCol="0" anchor="t"/>
          <a:lstStyle/>
          <a:p>
            <a:pPr marL="0" indent="0">
              <a:buNone/>
            </a:pPr>
            <a:r>
              <a:rPr lang="en-US" sz="1300" dirty="0">
                <a:solidFill>
                  <a:srgbClr val="5C6B73"/>
                </a:solidFill>
                <a:latin typeface="Calibri" pitchFamily="34" charset="0"/>
                <a:ea typeface="Calibri" pitchFamily="34" charset="-122"/>
                <a:cs typeface="Calibri" pitchFamily="34" charset="-120"/>
              </a:rPr>
              <a:t>Data scattered across parties makes audits, reporting, and risk scoring slow and unreliable.</a:t>
            </a:r>
            <a:endParaRPr lang="en-US" sz="1300" dirty="0"/>
          </a:p>
        </p:txBody>
      </p:sp>
      <p:sp>
        <p:nvSpPr>
          <p:cNvPr id="19" name="Text 17"/>
          <p:cNvSpPr/>
          <p:nvPr/>
        </p:nvSpPr>
        <p:spPr>
          <a:xfrm>
            <a:off x="548640" y="5394960"/>
            <a:ext cx="10515600" cy="548640"/>
          </a:xfrm>
          <a:prstGeom prst="rect">
            <a:avLst/>
          </a:prstGeom>
          <a:noFill/>
          <a:ln/>
        </p:spPr>
        <p:txBody>
          <a:bodyPr wrap="square" lIns="0" tIns="0" rIns="0" bIns="0" rtlCol="0" anchor="ctr"/>
          <a:lstStyle/>
          <a:p>
            <a:pPr marL="0" indent="0">
              <a:buNone/>
            </a:pPr>
            <a:r>
              <a:rPr lang="en-US" sz="1500" i="1" dirty="0">
                <a:solidFill>
                  <a:srgbClr val="028090"/>
                </a:solidFill>
                <a:latin typeface="Calibri" pitchFamily="34" charset="0"/>
                <a:ea typeface="Calibri" pitchFamily="34" charset="-122"/>
                <a:cs typeface="Calibri" pitchFamily="34" charset="-120"/>
              </a:rPr>
              <a:t>Result: slow reconciliation, easy-to-hide fraud, and lenders who can't confidently price risk.</a:t>
            </a:r>
            <a:endParaRPr lang="en-US" sz="1500" dirty="0"/>
          </a:p>
        </p:txBody>
      </p:sp>
      <p:sp>
        <p:nvSpPr>
          <p:cNvPr id="20" name="Text 18"/>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Three Technologies, Three Distinct Jobs</a:t>
            </a:r>
            <a:endParaRPr lang="en-US" sz="3200" dirty="0"/>
          </a:p>
        </p:txBody>
      </p:sp>
      <p:sp>
        <p:nvSpPr>
          <p:cNvPr id="4" name="Shape 2"/>
          <p:cNvSpPr/>
          <p:nvPr/>
        </p:nvSpPr>
        <p:spPr>
          <a:xfrm>
            <a:off x="548640" y="1783080"/>
            <a:ext cx="3520440" cy="4114800"/>
          </a:xfrm>
          <a:prstGeom prst="roundRect">
            <a:avLst>
              <a:gd name="adj" fmla="val 3117"/>
            </a:avLst>
          </a:prstGeom>
          <a:solidFill>
            <a:srgbClr val="FFFFFF"/>
          </a:solidFill>
          <a:ln w="12700">
            <a:solidFill>
              <a:srgbClr val="E1E8E8"/>
            </a:solidFill>
            <a:prstDash val="solid"/>
          </a:ln>
          <a:effectLst>
            <a:outerShdw blurRad="101600" dist="38100" dir="5400000" algn="bl" rotWithShape="0">
              <a:srgbClr val="1B2B34">
                <a:alpha val="10000"/>
              </a:srgbClr>
            </a:outerShdw>
          </a:effectLst>
        </p:spPr>
        <p:txBody>
          <a:bodyPr/>
          <a:lstStyle/>
          <a:p>
            <a:endParaRPr lang="en-US"/>
          </a:p>
        </p:txBody>
      </p:sp>
      <p:sp>
        <p:nvSpPr>
          <p:cNvPr id="5" name="Shape 3"/>
          <p:cNvSpPr/>
          <p:nvPr/>
        </p:nvSpPr>
        <p:spPr>
          <a:xfrm>
            <a:off x="548640" y="1783080"/>
            <a:ext cx="3520440" cy="128016"/>
          </a:xfrm>
          <a:prstGeom prst="roundRect">
            <a:avLst/>
          </a:prstGeom>
          <a:solidFill>
            <a:srgbClr val="028090"/>
          </a:solidFill>
          <a:ln/>
        </p:spPr>
        <p:txBody>
          <a:bodyPr/>
          <a:lstStyle/>
          <a:p>
            <a:endParaRPr lang="en-US"/>
          </a:p>
        </p:txBody>
      </p:sp>
      <p:sp>
        <p:nvSpPr>
          <p:cNvPr id="6" name="Shape 4"/>
          <p:cNvSpPr/>
          <p:nvPr/>
        </p:nvSpPr>
        <p:spPr>
          <a:xfrm>
            <a:off x="1943100" y="2148840"/>
            <a:ext cx="731520" cy="73152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7" name="Text 5"/>
          <p:cNvSpPr/>
          <p:nvPr/>
        </p:nvSpPr>
        <p:spPr>
          <a:xfrm>
            <a:off x="1943100" y="21488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BC</a:t>
            </a:r>
            <a:endParaRPr lang="en-US" sz="1500" dirty="0"/>
          </a:p>
        </p:txBody>
      </p:sp>
      <p:sp>
        <p:nvSpPr>
          <p:cNvPr id="8" name="Text 6"/>
          <p:cNvSpPr/>
          <p:nvPr/>
        </p:nvSpPr>
        <p:spPr>
          <a:xfrm>
            <a:off x="731520" y="3063240"/>
            <a:ext cx="3154680" cy="411480"/>
          </a:xfrm>
          <a:prstGeom prst="rect">
            <a:avLst/>
          </a:prstGeom>
          <a:noFill/>
          <a:ln/>
        </p:spPr>
        <p:txBody>
          <a:bodyPr wrap="square" lIns="0" tIns="0" rIns="0" bIns="0" rtlCol="0" anchor="ctr"/>
          <a:lstStyle/>
          <a:p>
            <a:pPr marL="0" indent="0" algn="ctr">
              <a:buNone/>
            </a:pPr>
            <a:r>
              <a:rPr lang="en-US" sz="1700" b="1" dirty="0">
                <a:solidFill>
                  <a:srgbClr val="1B2B34"/>
                </a:solidFill>
                <a:latin typeface="Calibri" pitchFamily="34" charset="0"/>
                <a:ea typeface="Calibri" pitchFamily="34" charset="-122"/>
                <a:cs typeface="Calibri" pitchFamily="34" charset="-120"/>
              </a:rPr>
              <a:t>Blockchain</a:t>
            </a:r>
            <a:endParaRPr lang="en-US" sz="1700" dirty="0"/>
          </a:p>
        </p:txBody>
      </p:sp>
      <p:sp>
        <p:nvSpPr>
          <p:cNvPr id="9" name="Text 7"/>
          <p:cNvSpPr/>
          <p:nvPr/>
        </p:nvSpPr>
        <p:spPr>
          <a:xfrm>
            <a:off x="731520" y="3456432"/>
            <a:ext cx="3154680" cy="365760"/>
          </a:xfrm>
          <a:prstGeom prst="rect">
            <a:avLst/>
          </a:prstGeom>
          <a:noFill/>
          <a:ln/>
        </p:spPr>
        <p:txBody>
          <a:bodyPr wrap="square" lIns="0" tIns="0" rIns="0" bIns="0" rtlCol="0" anchor="ctr"/>
          <a:lstStyle/>
          <a:p>
            <a:pPr marL="0" indent="0" algn="ctr">
              <a:buNone/>
            </a:pPr>
            <a:r>
              <a:rPr lang="en-US" sz="1250" i="1" dirty="0">
                <a:solidFill>
                  <a:srgbClr val="028090"/>
                </a:solidFill>
                <a:latin typeface="Calibri" pitchFamily="34" charset="0"/>
                <a:ea typeface="Calibri" pitchFamily="34" charset="-122"/>
                <a:cs typeface="Calibri" pitchFamily="34" charset="-120"/>
              </a:rPr>
              <a:t>Immutable, shared record</a:t>
            </a:r>
            <a:endParaRPr lang="en-US" sz="1250" dirty="0"/>
          </a:p>
        </p:txBody>
      </p:sp>
      <p:sp>
        <p:nvSpPr>
          <p:cNvPr id="10" name="Text 8"/>
          <p:cNvSpPr/>
          <p:nvPr/>
        </p:nvSpPr>
        <p:spPr>
          <a:xfrm>
            <a:off x="822960" y="3977640"/>
            <a:ext cx="2971800" cy="1737360"/>
          </a:xfrm>
          <a:prstGeom prst="rect">
            <a:avLst/>
          </a:prstGeom>
          <a:noFill/>
          <a:ln/>
        </p:spPr>
        <p:txBody>
          <a:bodyPr wrap="square" lIns="0" tIns="0" rIns="0" bIns="0" rtlCol="0" anchor="t"/>
          <a:lstStyle/>
          <a:p>
            <a:pPr marL="0" indent="0" algn="ctr">
              <a:buNone/>
            </a:pPr>
            <a:r>
              <a:rPr lang="en-US" sz="1250" dirty="0">
                <a:solidFill>
                  <a:srgbClr val="5C6B73"/>
                </a:solidFill>
                <a:latin typeface="Calibri" pitchFamily="34" charset="0"/>
                <a:ea typeface="Calibri" pitchFamily="34" charset="-122"/>
                <a:cs typeface="Calibri" pitchFamily="34" charset="-120"/>
              </a:rPr>
              <a:t>Every party trusts the same tamper-proof event log — no single owner, no silent edits.</a:t>
            </a:r>
            <a:endParaRPr lang="en-US" sz="1250" dirty="0"/>
          </a:p>
        </p:txBody>
      </p:sp>
      <p:sp>
        <p:nvSpPr>
          <p:cNvPr id="11" name="Shape 9"/>
          <p:cNvSpPr/>
          <p:nvPr/>
        </p:nvSpPr>
        <p:spPr>
          <a:xfrm>
            <a:off x="4297680" y="1783080"/>
            <a:ext cx="3520440" cy="4114800"/>
          </a:xfrm>
          <a:prstGeom prst="roundRect">
            <a:avLst>
              <a:gd name="adj" fmla="val 3117"/>
            </a:avLst>
          </a:prstGeom>
          <a:solidFill>
            <a:srgbClr val="FFFFFF"/>
          </a:solidFill>
          <a:ln w="12700">
            <a:solidFill>
              <a:srgbClr val="E1E8E8"/>
            </a:solidFill>
            <a:prstDash val="solid"/>
          </a:ln>
          <a:effectLst>
            <a:outerShdw blurRad="101600" dist="38100" dir="5400000" algn="bl" rotWithShape="0">
              <a:srgbClr val="1B2B34">
                <a:alpha val="10000"/>
              </a:srgbClr>
            </a:outerShdw>
          </a:effectLst>
        </p:spPr>
        <p:txBody>
          <a:bodyPr/>
          <a:lstStyle/>
          <a:p>
            <a:endParaRPr lang="en-US"/>
          </a:p>
        </p:txBody>
      </p:sp>
      <p:sp>
        <p:nvSpPr>
          <p:cNvPr id="12" name="Shape 10"/>
          <p:cNvSpPr/>
          <p:nvPr/>
        </p:nvSpPr>
        <p:spPr>
          <a:xfrm>
            <a:off x="4297680" y="1783080"/>
            <a:ext cx="3520440" cy="128016"/>
          </a:xfrm>
          <a:prstGeom prst="roundRect">
            <a:avLst/>
          </a:prstGeom>
          <a:solidFill>
            <a:srgbClr val="00A896"/>
          </a:solidFill>
          <a:ln/>
        </p:spPr>
        <p:txBody>
          <a:bodyPr/>
          <a:lstStyle/>
          <a:p>
            <a:endParaRPr lang="en-US"/>
          </a:p>
        </p:txBody>
      </p:sp>
      <p:sp>
        <p:nvSpPr>
          <p:cNvPr id="13" name="Shape 11"/>
          <p:cNvSpPr/>
          <p:nvPr/>
        </p:nvSpPr>
        <p:spPr>
          <a:xfrm>
            <a:off x="5692140" y="2148840"/>
            <a:ext cx="731520" cy="731520"/>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14" name="Text 12"/>
          <p:cNvSpPr/>
          <p:nvPr/>
        </p:nvSpPr>
        <p:spPr>
          <a:xfrm>
            <a:off x="5692140" y="21488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15" name="Text 13"/>
          <p:cNvSpPr/>
          <p:nvPr/>
        </p:nvSpPr>
        <p:spPr>
          <a:xfrm>
            <a:off x="4480560" y="3063240"/>
            <a:ext cx="3154680" cy="411480"/>
          </a:xfrm>
          <a:prstGeom prst="rect">
            <a:avLst/>
          </a:prstGeom>
          <a:noFill/>
          <a:ln/>
        </p:spPr>
        <p:txBody>
          <a:bodyPr wrap="square" lIns="0" tIns="0" rIns="0" bIns="0" rtlCol="0" anchor="ctr"/>
          <a:lstStyle/>
          <a:p>
            <a:pPr marL="0" indent="0" algn="ctr">
              <a:buNone/>
            </a:pPr>
            <a:r>
              <a:rPr lang="en-US" sz="1700" b="1" dirty="0">
                <a:solidFill>
                  <a:srgbClr val="1B2B34"/>
                </a:solidFill>
                <a:latin typeface="Calibri" pitchFamily="34" charset="0"/>
                <a:ea typeface="Calibri" pitchFamily="34" charset="-122"/>
                <a:cs typeface="Calibri" pitchFamily="34" charset="-120"/>
              </a:rPr>
              <a:t>Artificial Intelligence</a:t>
            </a:r>
            <a:endParaRPr lang="en-US" sz="1700" dirty="0"/>
          </a:p>
        </p:txBody>
      </p:sp>
      <p:sp>
        <p:nvSpPr>
          <p:cNvPr id="16" name="Text 14"/>
          <p:cNvSpPr/>
          <p:nvPr/>
        </p:nvSpPr>
        <p:spPr>
          <a:xfrm>
            <a:off x="4480560" y="3456432"/>
            <a:ext cx="3154680" cy="365760"/>
          </a:xfrm>
          <a:prstGeom prst="rect">
            <a:avLst/>
          </a:prstGeom>
          <a:noFill/>
          <a:ln/>
        </p:spPr>
        <p:txBody>
          <a:bodyPr wrap="square" lIns="0" tIns="0" rIns="0" bIns="0" rtlCol="0" anchor="ctr"/>
          <a:lstStyle/>
          <a:p>
            <a:pPr marL="0" indent="0" algn="ctr">
              <a:buNone/>
            </a:pPr>
            <a:r>
              <a:rPr lang="en-US" sz="1250" i="1" dirty="0">
                <a:solidFill>
                  <a:srgbClr val="00A896"/>
                </a:solidFill>
                <a:latin typeface="Calibri" pitchFamily="34" charset="0"/>
                <a:ea typeface="Calibri" pitchFamily="34" charset="-122"/>
                <a:cs typeface="Calibri" pitchFamily="34" charset="-120"/>
              </a:rPr>
              <a:t>Pattern-based risk scoring</a:t>
            </a:r>
            <a:endParaRPr lang="en-US" sz="1250" dirty="0"/>
          </a:p>
        </p:txBody>
      </p:sp>
      <p:sp>
        <p:nvSpPr>
          <p:cNvPr id="17" name="Text 15"/>
          <p:cNvSpPr/>
          <p:nvPr/>
        </p:nvSpPr>
        <p:spPr>
          <a:xfrm>
            <a:off x="4572000" y="3977640"/>
            <a:ext cx="2971800" cy="1737360"/>
          </a:xfrm>
          <a:prstGeom prst="rect">
            <a:avLst/>
          </a:prstGeom>
          <a:noFill/>
          <a:ln/>
        </p:spPr>
        <p:txBody>
          <a:bodyPr wrap="square" lIns="0" tIns="0" rIns="0" bIns="0" rtlCol="0" anchor="t"/>
          <a:lstStyle/>
          <a:p>
            <a:pPr marL="0" indent="0" algn="ctr">
              <a:buNone/>
            </a:pPr>
            <a:r>
              <a:rPr lang="en-US" sz="1250" dirty="0">
                <a:solidFill>
                  <a:srgbClr val="5C6B73"/>
                </a:solidFill>
                <a:latin typeface="Calibri" pitchFamily="34" charset="0"/>
                <a:ea typeface="Calibri" pitchFamily="34" charset="-122"/>
                <a:cs typeface="Calibri" pitchFamily="34" charset="-120"/>
              </a:rPr>
              <a:t>Learns from transaction history to flag fraud/default risk that rule-based checks would miss.</a:t>
            </a:r>
            <a:endParaRPr lang="en-US" sz="1250" dirty="0"/>
          </a:p>
        </p:txBody>
      </p:sp>
      <p:sp>
        <p:nvSpPr>
          <p:cNvPr id="18" name="Shape 16"/>
          <p:cNvSpPr/>
          <p:nvPr/>
        </p:nvSpPr>
        <p:spPr>
          <a:xfrm>
            <a:off x="8046720" y="1783080"/>
            <a:ext cx="3520440" cy="4114800"/>
          </a:xfrm>
          <a:prstGeom prst="roundRect">
            <a:avLst>
              <a:gd name="adj" fmla="val 3117"/>
            </a:avLst>
          </a:prstGeom>
          <a:solidFill>
            <a:srgbClr val="FFFFFF"/>
          </a:solidFill>
          <a:ln w="12700">
            <a:solidFill>
              <a:srgbClr val="E1E8E8"/>
            </a:solidFill>
            <a:prstDash val="solid"/>
          </a:ln>
          <a:effectLst>
            <a:outerShdw blurRad="101600" dist="38100" dir="5400000" algn="bl" rotWithShape="0">
              <a:srgbClr val="1B2B34">
                <a:alpha val="10000"/>
              </a:srgbClr>
            </a:outerShdw>
          </a:effectLst>
        </p:spPr>
        <p:txBody>
          <a:bodyPr/>
          <a:lstStyle/>
          <a:p>
            <a:endParaRPr lang="en-US"/>
          </a:p>
        </p:txBody>
      </p:sp>
      <p:sp>
        <p:nvSpPr>
          <p:cNvPr id="19" name="Shape 17"/>
          <p:cNvSpPr/>
          <p:nvPr/>
        </p:nvSpPr>
        <p:spPr>
          <a:xfrm>
            <a:off x="8046720" y="1783080"/>
            <a:ext cx="3520440" cy="128016"/>
          </a:xfrm>
          <a:prstGeom prst="roundRect">
            <a:avLst/>
          </a:prstGeom>
          <a:solidFill>
            <a:srgbClr val="02C39A"/>
          </a:solidFill>
          <a:ln/>
        </p:spPr>
        <p:txBody>
          <a:bodyPr/>
          <a:lstStyle/>
          <a:p>
            <a:endParaRPr lang="en-US"/>
          </a:p>
        </p:txBody>
      </p:sp>
      <p:sp>
        <p:nvSpPr>
          <p:cNvPr id="20" name="Shape 18"/>
          <p:cNvSpPr/>
          <p:nvPr/>
        </p:nvSpPr>
        <p:spPr>
          <a:xfrm>
            <a:off x="9441180" y="2148840"/>
            <a:ext cx="731520" cy="731520"/>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21" name="Text 19"/>
          <p:cNvSpPr/>
          <p:nvPr/>
        </p:nvSpPr>
        <p:spPr>
          <a:xfrm>
            <a:off x="9441180" y="21488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DB</a:t>
            </a:r>
            <a:endParaRPr lang="en-US" sz="1500" dirty="0"/>
          </a:p>
        </p:txBody>
      </p:sp>
      <p:sp>
        <p:nvSpPr>
          <p:cNvPr id="22" name="Text 20"/>
          <p:cNvSpPr/>
          <p:nvPr/>
        </p:nvSpPr>
        <p:spPr>
          <a:xfrm>
            <a:off x="8229600" y="3063240"/>
            <a:ext cx="3154680" cy="411480"/>
          </a:xfrm>
          <a:prstGeom prst="rect">
            <a:avLst/>
          </a:prstGeom>
          <a:noFill/>
          <a:ln/>
        </p:spPr>
        <p:txBody>
          <a:bodyPr wrap="square" lIns="0" tIns="0" rIns="0" bIns="0" rtlCol="0" anchor="ctr"/>
          <a:lstStyle/>
          <a:p>
            <a:pPr marL="0" indent="0" algn="ctr">
              <a:buNone/>
            </a:pPr>
            <a:r>
              <a:rPr lang="en-US" sz="1700" b="1" dirty="0">
                <a:solidFill>
                  <a:srgbClr val="1B2B34"/>
                </a:solidFill>
                <a:latin typeface="Calibri" pitchFamily="34" charset="0"/>
                <a:ea typeface="Calibri" pitchFamily="34" charset="-122"/>
                <a:cs typeface="Calibri" pitchFamily="34" charset="-120"/>
              </a:rPr>
              <a:t>SQL</a:t>
            </a:r>
            <a:endParaRPr lang="en-US" sz="1700" dirty="0"/>
          </a:p>
        </p:txBody>
      </p:sp>
      <p:sp>
        <p:nvSpPr>
          <p:cNvPr id="23" name="Text 21"/>
          <p:cNvSpPr/>
          <p:nvPr/>
        </p:nvSpPr>
        <p:spPr>
          <a:xfrm>
            <a:off x="8229600" y="3456432"/>
            <a:ext cx="3154680" cy="365760"/>
          </a:xfrm>
          <a:prstGeom prst="rect">
            <a:avLst/>
          </a:prstGeom>
          <a:noFill/>
          <a:ln/>
        </p:spPr>
        <p:txBody>
          <a:bodyPr wrap="square" lIns="0" tIns="0" rIns="0" bIns="0" rtlCol="0" anchor="ctr"/>
          <a:lstStyle/>
          <a:p>
            <a:pPr marL="0" indent="0" algn="ctr">
              <a:buNone/>
            </a:pPr>
            <a:r>
              <a:rPr lang="en-US" sz="1250" i="1" dirty="0">
                <a:solidFill>
                  <a:srgbClr val="02C39A"/>
                </a:solidFill>
                <a:latin typeface="Calibri" pitchFamily="34" charset="0"/>
                <a:ea typeface="Calibri" pitchFamily="34" charset="-122"/>
                <a:cs typeface="Calibri" pitchFamily="34" charset="-120"/>
              </a:rPr>
              <a:t>Fast structured analytics</a:t>
            </a:r>
            <a:endParaRPr lang="en-US" sz="1250" dirty="0"/>
          </a:p>
        </p:txBody>
      </p:sp>
      <p:sp>
        <p:nvSpPr>
          <p:cNvPr id="24" name="Text 22"/>
          <p:cNvSpPr/>
          <p:nvPr/>
        </p:nvSpPr>
        <p:spPr>
          <a:xfrm>
            <a:off x="8321040" y="3977640"/>
            <a:ext cx="2971800" cy="1737360"/>
          </a:xfrm>
          <a:prstGeom prst="rect">
            <a:avLst/>
          </a:prstGeom>
          <a:noFill/>
          <a:ln/>
        </p:spPr>
        <p:txBody>
          <a:bodyPr wrap="square" lIns="0" tIns="0" rIns="0" bIns="0" rtlCol="0" anchor="t"/>
          <a:lstStyle/>
          <a:p>
            <a:pPr marL="0" indent="0" algn="ctr">
              <a:buNone/>
            </a:pPr>
            <a:r>
              <a:rPr lang="en-US" sz="1250" dirty="0">
                <a:solidFill>
                  <a:srgbClr val="5C6B73"/>
                </a:solidFill>
                <a:latin typeface="Calibri" pitchFamily="34" charset="0"/>
                <a:ea typeface="Calibri" pitchFamily="34" charset="-122"/>
                <a:cs typeface="Calibri" pitchFamily="34" charset="-120"/>
              </a:rPr>
              <a:t>Mirrors on-chain events into queryable tables for dashboards, reporting, and model training.</a:t>
            </a:r>
            <a:endParaRPr lang="en-US" sz="1250" dirty="0"/>
          </a:p>
        </p:txBody>
      </p:sp>
      <p:sp>
        <p:nvSpPr>
          <p:cNvPr id="25" name="Text 23"/>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End-to-End Data Flow</a:t>
            </a:r>
            <a:endParaRPr lang="en-US" sz="3200" dirty="0"/>
          </a:p>
        </p:txBody>
      </p:sp>
      <p:sp>
        <p:nvSpPr>
          <p:cNvPr id="4" name="Shape 2"/>
          <p:cNvSpPr/>
          <p:nvPr/>
        </p:nvSpPr>
        <p:spPr>
          <a:xfrm>
            <a:off x="586588" y="2651760"/>
            <a:ext cx="1691640" cy="1051560"/>
          </a:xfrm>
          <a:prstGeom prst="roundRect">
            <a:avLst>
              <a:gd name="adj" fmla="val 8696"/>
            </a:avLst>
          </a:prstGeom>
          <a:solidFill>
            <a:srgbClr val="F2F8F8"/>
          </a:solidFill>
          <a:ln w="19050">
            <a:solidFill>
              <a:srgbClr val="028090"/>
            </a:solidFill>
            <a:prstDash val="solid"/>
          </a:ln>
        </p:spPr>
        <p:txBody>
          <a:bodyPr/>
          <a:lstStyle/>
          <a:p>
            <a:endParaRPr lang="en-US"/>
          </a:p>
        </p:txBody>
      </p:sp>
      <p:sp>
        <p:nvSpPr>
          <p:cNvPr id="5" name="Text 3"/>
          <p:cNvSpPr/>
          <p:nvPr/>
        </p:nvSpPr>
        <p:spPr>
          <a:xfrm>
            <a:off x="659740" y="2743200"/>
            <a:ext cx="1545336" cy="365760"/>
          </a:xfrm>
          <a:prstGeom prst="rect">
            <a:avLst/>
          </a:prstGeom>
          <a:noFill/>
          <a:ln/>
        </p:spPr>
        <p:txBody>
          <a:bodyPr wrap="square" lIns="0" tIns="0" rIns="0" bIns="0" rtlCol="0" anchor="ctr"/>
          <a:lstStyle/>
          <a:p>
            <a:pPr marL="0" indent="0" algn="ctr">
              <a:buNone/>
            </a:pPr>
            <a:r>
              <a:rPr lang="en-US" sz="1250" b="1" dirty="0">
                <a:solidFill>
                  <a:srgbClr val="1B2B34"/>
                </a:solidFill>
                <a:latin typeface="Calibri" pitchFamily="34" charset="0"/>
                <a:ea typeface="Calibri" pitchFamily="34" charset="-122"/>
                <a:cs typeface="Calibri" pitchFamily="34" charset="-120"/>
              </a:rPr>
              <a:t>Actors</a:t>
            </a:r>
            <a:endParaRPr lang="en-US" sz="1250" dirty="0"/>
          </a:p>
        </p:txBody>
      </p:sp>
      <p:sp>
        <p:nvSpPr>
          <p:cNvPr id="6" name="Text 4"/>
          <p:cNvSpPr/>
          <p:nvPr/>
        </p:nvSpPr>
        <p:spPr>
          <a:xfrm>
            <a:off x="659740" y="3127248"/>
            <a:ext cx="1545336" cy="530352"/>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Supplier / Buyer / Lender</a:t>
            </a:r>
            <a:endParaRPr lang="en-US" sz="950" dirty="0"/>
          </a:p>
        </p:txBody>
      </p:sp>
      <p:sp>
        <p:nvSpPr>
          <p:cNvPr id="7" name="Shape 5"/>
          <p:cNvSpPr/>
          <p:nvPr/>
        </p:nvSpPr>
        <p:spPr>
          <a:xfrm>
            <a:off x="2278228" y="3095244"/>
            <a:ext cx="173736" cy="164592"/>
          </a:xfrm>
          <a:prstGeom prst="rightArrow">
            <a:avLst/>
          </a:prstGeom>
          <a:solidFill>
            <a:srgbClr val="5C6B73"/>
          </a:solidFill>
          <a:ln/>
        </p:spPr>
        <p:txBody>
          <a:bodyPr/>
          <a:lstStyle/>
          <a:p>
            <a:endParaRPr lang="en-US"/>
          </a:p>
        </p:txBody>
      </p:sp>
      <p:sp>
        <p:nvSpPr>
          <p:cNvPr id="8" name="Shape 6"/>
          <p:cNvSpPr/>
          <p:nvPr/>
        </p:nvSpPr>
        <p:spPr>
          <a:xfrm>
            <a:off x="2451964" y="2651760"/>
            <a:ext cx="1691640" cy="1051560"/>
          </a:xfrm>
          <a:prstGeom prst="roundRect">
            <a:avLst>
              <a:gd name="adj" fmla="val 8696"/>
            </a:avLst>
          </a:prstGeom>
          <a:solidFill>
            <a:srgbClr val="F2F8F8"/>
          </a:solidFill>
          <a:ln w="19050">
            <a:solidFill>
              <a:srgbClr val="028090"/>
            </a:solidFill>
            <a:prstDash val="solid"/>
          </a:ln>
        </p:spPr>
        <p:txBody>
          <a:bodyPr/>
          <a:lstStyle/>
          <a:p>
            <a:endParaRPr lang="en-US"/>
          </a:p>
        </p:txBody>
      </p:sp>
      <p:sp>
        <p:nvSpPr>
          <p:cNvPr id="9" name="Text 7"/>
          <p:cNvSpPr/>
          <p:nvPr/>
        </p:nvSpPr>
        <p:spPr>
          <a:xfrm>
            <a:off x="2525116" y="2743200"/>
            <a:ext cx="1545336" cy="365760"/>
          </a:xfrm>
          <a:prstGeom prst="rect">
            <a:avLst/>
          </a:prstGeom>
          <a:noFill/>
          <a:ln/>
        </p:spPr>
        <p:txBody>
          <a:bodyPr wrap="square" lIns="0" tIns="0" rIns="0" bIns="0" rtlCol="0" anchor="ctr"/>
          <a:lstStyle/>
          <a:p>
            <a:pPr marL="0" indent="0" algn="ctr">
              <a:buNone/>
            </a:pPr>
            <a:r>
              <a:rPr lang="en-US" sz="1250" b="1" dirty="0">
                <a:solidFill>
                  <a:srgbClr val="1B2B34"/>
                </a:solidFill>
                <a:latin typeface="Calibri" pitchFamily="34" charset="0"/>
                <a:ea typeface="Calibri" pitchFamily="34" charset="-122"/>
                <a:cs typeface="Calibri" pitchFamily="34" charset="-120"/>
              </a:rPr>
              <a:t>Smart Contracts</a:t>
            </a:r>
            <a:endParaRPr lang="en-US" sz="1250" dirty="0"/>
          </a:p>
        </p:txBody>
      </p:sp>
      <p:sp>
        <p:nvSpPr>
          <p:cNvPr id="10" name="Text 8"/>
          <p:cNvSpPr/>
          <p:nvPr/>
        </p:nvSpPr>
        <p:spPr>
          <a:xfrm>
            <a:off x="2525116" y="3127248"/>
            <a:ext cx="1545336" cy="530352"/>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Invoice, shipment &amp; payment events</a:t>
            </a:r>
            <a:endParaRPr lang="en-US" sz="950" dirty="0"/>
          </a:p>
        </p:txBody>
      </p:sp>
      <p:sp>
        <p:nvSpPr>
          <p:cNvPr id="11" name="Shape 9"/>
          <p:cNvSpPr/>
          <p:nvPr/>
        </p:nvSpPr>
        <p:spPr>
          <a:xfrm>
            <a:off x="4143604" y="3095244"/>
            <a:ext cx="173736" cy="164592"/>
          </a:xfrm>
          <a:prstGeom prst="rightArrow">
            <a:avLst/>
          </a:prstGeom>
          <a:solidFill>
            <a:srgbClr val="5C6B73"/>
          </a:solidFill>
          <a:ln/>
        </p:spPr>
        <p:txBody>
          <a:bodyPr/>
          <a:lstStyle/>
          <a:p>
            <a:endParaRPr lang="en-US"/>
          </a:p>
        </p:txBody>
      </p:sp>
      <p:sp>
        <p:nvSpPr>
          <p:cNvPr id="12" name="Shape 10"/>
          <p:cNvSpPr/>
          <p:nvPr/>
        </p:nvSpPr>
        <p:spPr>
          <a:xfrm>
            <a:off x="4317340" y="2651760"/>
            <a:ext cx="1691640" cy="1051560"/>
          </a:xfrm>
          <a:prstGeom prst="roundRect">
            <a:avLst>
              <a:gd name="adj" fmla="val 8696"/>
            </a:avLst>
          </a:prstGeom>
          <a:solidFill>
            <a:srgbClr val="F2F8F8"/>
          </a:solidFill>
          <a:ln w="19050">
            <a:solidFill>
              <a:srgbClr val="00A896"/>
            </a:solidFill>
            <a:prstDash val="solid"/>
          </a:ln>
        </p:spPr>
        <p:txBody>
          <a:bodyPr/>
          <a:lstStyle/>
          <a:p>
            <a:endParaRPr lang="en-US"/>
          </a:p>
        </p:txBody>
      </p:sp>
      <p:sp>
        <p:nvSpPr>
          <p:cNvPr id="13" name="Text 11"/>
          <p:cNvSpPr/>
          <p:nvPr/>
        </p:nvSpPr>
        <p:spPr>
          <a:xfrm>
            <a:off x="4390492" y="2743200"/>
            <a:ext cx="1545336" cy="365760"/>
          </a:xfrm>
          <a:prstGeom prst="rect">
            <a:avLst/>
          </a:prstGeom>
          <a:noFill/>
          <a:ln/>
        </p:spPr>
        <p:txBody>
          <a:bodyPr wrap="square" lIns="0" tIns="0" rIns="0" bIns="0" rtlCol="0" anchor="ctr"/>
          <a:lstStyle/>
          <a:p>
            <a:pPr marL="0" indent="0" algn="ctr">
              <a:buNone/>
            </a:pPr>
            <a:r>
              <a:rPr lang="en-US" sz="1250" b="1" dirty="0">
                <a:solidFill>
                  <a:srgbClr val="1B2B34"/>
                </a:solidFill>
                <a:latin typeface="Calibri" pitchFamily="34" charset="0"/>
                <a:ea typeface="Calibri" pitchFamily="34" charset="-122"/>
                <a:cs typeface="Calibri" pitchFamily="34" charset="-120"/>
              </a:rPr>
              <a:t>Event Listener</a:t>
            </a:r>
            <a:endParaRPr lang="en-US" sz="1250" dirty="0"/>
          </a:p>
        </p:txBody>
      </p:sp>
      <p:sp>
        <p:nvSpPr>
          <p:cNvPr id="14" name="Text 12"/>
          <p:cNvSpPr/>
          <p:nvPr/>
        </p:nvSpPr>
        <p:spPr>
          <a:xfrm>
            <a:off x="4390492" y="3127248"/>
            <a:ext cx="1545336" cy="530352"/>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web3.py bridges chain → SQL</a:t>
            </a:r>
            <a:endParaRPr lang="en-US" sz="950" dirty="0"/>
          </a:p>
        </p:txBody>
      </p:sp>
      <p:sp>
        <p:nvSpPr>
          <p:cNvPr id="15" name="Shape 13"/>
          <p:cNvSpPr/>
          <p:nvPr/>
        </p:nvSpPr>
        <p:spPr>
          <a:xfrm>
            <a:off x="6008980" y="3095244"/>
            <a:ext cx="173736" cy="164592"/>
          </a:xfrm>
          <a:prstGeom prst="rightArrow">
            <a:avLst/>
          </a:prstGeom>
          <a:solidFill>
            <a:srgbClr val="5C6B73"/>
          </a:solidFill>
          <a:ln/>
        </p:spPr>
        <p:txBody>
          <a:bodyPr/>
          <a:lstStyle/>
          <a:p>
            <a:endParaRPr lang="en-US"/>
          </a:p>
        </p:txBody>
      </p:sp>
      <p:sp>
        <p:nvSpPr>
          <p:cNvPr id="16" name="Shape 14"/>
          <p:cNvSpPr/>
          <p:nvPr/>
        </p:nvSpPr>
        <p:spPr>
          <a:xfrm>
            <a:off x="6182716" y="2651760"/>
            <a:ext cx="1691640" cy="1051560"/>
          </a:xfrm>
          <a:prstGeom prst="roundRect">
            <a:avLst>
              <a:gd name="adj" fmla="val 8696"/>
            </a:avLst>
          </a:prstGeom>
          <a:solidFill>
            <a:srgbClr val="F2F8F8"/>
          </a:solidFill>
          <a:ln w="19050">
            <a:solidFill>
              <a:srgbClr val="00A896"/>
            </a:solidFill>
            <a:prstDash val="solid"/>
          </a:ln>
        </p:spPr>
        <p:txBody>
          <a:bodyPr/>
          <a:lstStyle/>
          <a:p>
            <a:endParaRPr lang="en-US"/>
          </a:p>
        </p:txBody>
      </p:sp>
      <p:sp>
        <p:nvSpPr>
          <p:cNvPr id="17" name="Text 15"/>
          <p:cNvSpPr/>
          <p:nvPr/>
        </p:nvSpPr>
        <p:spPr>
          <a:xfrm>
            <a:off x="6255868" y="2743200"/>
            <a:ext cx="1545336" cy="365760"/>
          </a:xfrm>
          <a:prstGeom prst="rect">
            <a:avLst/>
          </a:prstGeom>
          <a:noFill/>
          <a:ln/>
        </p:spPr>
        <p:txBody>
          <a:bodyPr wrap="square" lIns="0" tIns="0" rIns="0" bIns="0" rtlCol="0" anchor="ctr"/>
          <a:lstStyle/>
          <a:p>
            <a:pPr marL="0" indent="0" algn="ctr">
              <a:buNone/>
            </a:pPr>
            <a:r>
              <a:rPr lang="en-US" sz="1250" b="1" dirty="0">
                <a:solidFill>
                  <a:srgbClr val="1B2B34"/>
                </a:solidFill>
                <a:latin typeface="Calibri" pitchFamily="34" charset="0"/>
                <a:ea typeface="Calibri" pitchFamily="34" charset="-122"/>
                <a:cs typeface="Calibri" pitchFamily="34" charset="-120"/>
              </a:rPr>
              <a:t>SQL Database</a:t>
            </a:r>
            <a:endParaRPr lang="en-US" sz="1250" dirty="0"/>
          </a:p>
        </p:txBody>
      </p:sp>
      <p:sp>
        <p:nvSpPr>
          <p:cNvPr id="18" name="Text 16"/>
          <p:cNvSpPr/>
          <p:nvPr/>
        </p:nvSpPr>
        <p:spPr>
          <a:xfrm>
            <a:off x="6255868" y="3127248"/>
            <a:ext cx="1545336" cy="530352"/>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Normalized transaction history</a:t>
            </a:r>
            <a:endParaRPr lang="en-US" sz="950" dirty="0"/>
          </a:p>
        </p:txBody>
      </p:sp>
      <p:sp>
        <p:nvSpPr>
          <p:cNvPr id="19" name="Shape 17"/>
          <p:cNvSpPr/>
          <p:nvPr/>
        </p:nvSpPr>
        <p:spPr>
          <a:xfrm>
            <a:off x="7874356" y="3095244"/>
            <a:ext cx="173736" cy="164592"/>
          </a:xfrm>
          <a:prstGeom prst="rightArrow">
            <a:avLst/>
          </a:prstGeom>
          <a:solidFill>
            <a:srgbClr val="5C6B73"/>
          </a:solidFill>
          <a:ln/>
        </p:spPr>
        <p:txBody>
          <a:bodyPr/>
          <a:lstStyle/>
          <a:p>
            <a:endParaRPr lang="en-US"/>
          </a:p>
        </p:txBody>
      </p:sp>
      <p:sp>
        <p:nvSpPr>
          <p:cNvPr id="20" name="Shape 18"/>
          <p:cNvSpPr/>
          <p:nvPr/>
        </p:nvSpPr>
        <p:spPr>
          <a:xfrm>
            <a:off x="8048092" y="2651760"/>
            <a:ext cx="1691640" cy="1051560"/>
          </a:xfrm>
          <a:prstGeom prst="roundRect">
            <a:avLst>
              <a:gd name="adj" fmla="val 8696"/>
            </a:avLst>
          </a:prstGeom>
          <a:solidFill>
            <a:srgbClr val="F2F8F8"/>
          </a:solidFill>
          <a:ln w="19050">
            <a:solidFill>
              <a:srgbClr val="02C39A"/>
            </a:solidFill>
            <a:prstDash val="solid"/>
          </a:ln>
        </p:spPr>
        <p:txBody>
          <a:bodyPr/>
          <a:lstStyle/>
          <a:p>
            <a:endParaRPr lang="en-US"/>
          </a:p>
        </p:txBody>
      </p:sp>
      <p:sp>
        <p:nvSpPr>
          <p:cNvPr id="21" name="Text 19"/>
          <p:cNvSpPr/>
          <p:nvPr/>
        </p:nvSpPr>
        <p:spPr>
          <a:xfrm>
            <a:off x="8121244" y="2743200"/>
            <a:ext cx="1545336" cy="365760"/>
          </a:xfrm>
          <a:prstGeom prst="rect">
            <a:avLst/>
          </a:prstGeom>
          <a:noFill/>
          <a:ln/>
        </p:spPr>
        <p:txBody>
          <a:bodyPr wrap="square" lIns="0" tIns="0" rIns="0" bIns="0" rtlCol="0" anchor="ctr"/>
          <a:lstStyle/>
          <a:p>
            <a:pPr marL="0" indent="0" algn="ctr">
              <a:buNone/>
            </a:pPr>
            <a:r>
              <a:rPr lang="en-US" sz="1250" b="1" dirty="0">
                <a:solidFill>
                  <a:srgbClr val="1B2B34"/>
                </a:solidFill>
                <a:latin typeface="Calibri" pitchFamily="34" charset="0"/>
                <a:ea typeface="Calibri" pitchFamily="34" charset="-122"/>
                <a:cs typeface="Calibri" pitchFamily="34" charset="-120"/>
              </a:rPr>
              <a:t>AI Risk Model</a:t>
            </a:r>
            <a:endParaRPr lang="en-US" sz="1250" dirty="0"/>
          </a:p>
        </p:txBody>
      </p:sp>
      <p:sp>
        <p:nvSpPr>
          <p:cNvPr id="22" name="Text 20"/>
          <p:cNvSpPr/>
          <p:nvPr/>
        </p:nvSpPr>
        <p:spPr>
          <a:xfrm>
            <a:off x="8121244" y="3127248"/>
            <a:ext cx="1545336" cy="530352"/>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Scores fraud / default risk</a:t>
            </a:r>
            <a:endParaRPr lang="en-US" sz="950" dirty="0"/>
          </a:p>
        </p:txBody>
      </p:sp>
      <p:sp>
        <p:nvSpPr>
          <p:cNvPr id="23" name="Shape 21"/>
          <p:cNvSpPr/>
          <p:nvPr/>
        </p:nvSpPr>
        <p:spPr>
          <a:xfrm>
            <a:off x="9739732" y="3095244"/>
            <a:ext cx="173736" cy="164592"/>
          </a:xfrm>
          <a:prstGeom prst="rightArrow">
            <a:avLst/>
          </a:prstGeom>
          <a:solidFill>
            <a:srgbClr val="5C6B73"/>
          </a:solidFill>
          <a:ln/>
        </p:spPr>
        <p:txBody>
          <a:bodyPr/>
          <a:lstStyle/>
          <a:p>
            <a:endParaRPr lang="en-US"/>
          </a:p>
        </p:txBody>
      </p:sp>
      <p:sp>
        <p:nvSpPr>
          <p:cNvPr id="24" name="Shape 22"/>
          <p:cNvSpPr/>
          <p:nvPr/>
        </p:nvSpPr>
        <p:spPr>
          <a:xfrm>
            <a:off x="9913468" y="2651760"/>
            <a:ext cx="1691640" cy="1051560"/>
          </a:xfrm>
          <a:prstGeom prst="roundRect">
            <a:avLst>
              <a:gd name="adj" fmla="val 8696"/>
            </a:avLst>
          </a:prstGeom>
          <a:solidFill>
            <a:srgbClr val="F2F8F8"/>
          </a:solidFill>
          <a:ln w="19050">
            <a:solidFill>
              <a:srgbClr val="02C39A"/>
            </a:solidFill>
            <a:prstDash val="solid"/>
          </a:ln>
        </p:spPr>
        <p:txBody>
          <a:bodyPr/>
          <a:lstStyle/>
          <a:p>
            <a:endParaRPr lang="en-US"/>
          </a:p>
        </p:txBody>
      </p:sp>
      <p:sp>
        <p:nvSpPr>
          <p:cNvPr id="25" name="Text 23"/>
          <p:cNvSpPr/>
          <p:nvPr/>
        </p:nvSpPr>
        <p:spPr>
          <a:xfrm>
            <a:off x="9986620" y="2743200"/>
            <a:ext cx="1545336" cy="365760"/>
          </a:xfrm>
          <a:prstGeom prst="rect">
            <a:avLst/>
          </a:prstGeom>
          <a:noFill/>
          <a:ln/>
        </p:spPr>
        <p:txBody>
          <a:bodyPr wrap="square" lIns="0" tIns="0" rIns="0" bIns="0" rtlCol="0" anchor="ctr"/>
          <a:lstStyle/>
          <a:p>
            <a:pPr marL="0" indent="0" algn="ctr">
              <a:buNone/>
            </a:pPr>
            <a:r>
              <a:rPr lang="en-US" sz="1250" b="1" dirty="0">
                <a:solidFill>
                  <a:srgbClr val="1B2B34"/>
                </a:solidFill>
                <a:latin typeface="Calibri" pitchFamily="34" charset="0"/>
                <a:ea typeface="Calibri" pitchFamily="34" charset="-122"/>
                <a:cs typeface="Calibri" pitchFamily="34" charset="-120"/>
              </a:rPr>
              <a:t>Dashboard</a:t>
            </a:r>
            <a:endParaRPr lang="en-US" sz="1250" dirty="0"/>
          </a:p>
        </p:txBody>
      </p:sp>
      <p:sp>
        <p:nvSpPr>
          <p:cNvPr id="26" name="Text 24"/>
          <p:cNvSpPr/>
          <p:nvPr/>
        </p:nvSpPr>
        <p:spPr>
          <a:xfrm>
            <a:off x="9986620" y="3127248"/>
            <a:ext cx="1545336" cy="530352"/>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Auditors view flagged transactions</a:t>
            </a:r>
            <a:endParaRPr lang="en-US" sz="950" dirty="0"/>
          </a:p>
        </p:txBody>
      </p:sp>
      <p:sp>
        <p:nvSpPr>
          <p:cNvPr id="27" name="Text 25"/>
          <p:cNvSpPr/>
          <p:nvPr/>
        </p:nvSpPr>
        <p:spPr>
          <a:xfrm>
            <a:off x="548640" y="4297680"/>
            <a:ext cx="10515600" cy="457200"/>
          </a:xfrm>
          <a:prstGeom prst="rect">
            <a:avLst/>
          </a:prstGeom>
          <a:noFill/>
          <a:ln/>
        </p:spPr>
        <p:txBody>
          <a:bodyPr wrap="square" lIns="0" tIns="0" rIns="0" bIns="0" rtlCol="0" anchor="ctr"/>
          <a:lstStyle/>
          <a:p>
            <a:pPr marL="0" indent="0">
              <a:buNone/>
            </a:pPr>
            <a:r>
              <a:rPr lang="en-US" sz="1250" i="1" dirty="0">
                <a:solidFill>
                  <a:srgbClr val="5C6B73"/>
                </a:solidFill>
                <a:latin typeface="Calibri" pitchFamily="34" charset="0"/>
                <a:ea typeface="Calibri" pitchFamily="34" charset="-122"/>
                <a:cs typeface="Calibri" pitchFamily="34" charset="-120"/>
              </a:rPr>
              <a:t>Simplified path: if skipping a live testnet, replace stages 2–3 with a Python-simulated hash-chain writing directly into SQL.</a:t>
            </a:r>
            <a:endParaRPr lang="en-US" sz="1250" dirty="0"/>
          </a:p>
        </p:txBody>
      </p:sp>
      <p:sp>
        <p:nvSpPr>
          <p:cNvPr id="28" name="Shape 26"/>
          <p:cNvSpPr/>
          <p:nvPr/>
        </p:nvSpPr>
        <p:spPr>
          <a:xfrm>
            <a:off x="548640" y="5029200"/>
            <a:ext cx="164592" cy="164592"/>
          </a:xfrm>
          <a:prstGeom prst="ellipse">
            <a:avLst/>
          </a:prstGeom>
          <a:solidFill>
            <a:srgbClr val="028090"/>
          </a:solidFill>
          <a:ln/>
        </p:spPr>
        <p:txBody>
          <a:bodyPr/>
          <a:lstStyle/>
          <a:p>
            <a:endParaRPr lang="en-US"/>
          </a:p>
        </p:txBody>
      </p:sp>
      <p:sp>
        <p:nvSpPr>
          <p:cNvPr id="29" name="Text 27"/>
          <p:cNvSpPr/>
          <p:nvPr/>
        </p:nvSpPr>
        <p:spPr>
          <a:xfrm>
            <a:off x="804672" y="4956048"/>
            <a:ext cx="2103120" cy="320040"/>
          </a:xfrm>
          <a:prstGeom prst="rect">
            <a:avLst/>
          </a:prstGeom>
          <a:noFill/>
          <a:ln/>
        </p:spPr>
        <p:txBody>
          <a:bodyPr wrap="square" lIns="0" tIns="0" rIns="0" bIns="0" rtlCol="0" anchor="ctr"/>
          <a:lstStyle/>
          <a:p>
            <a:pPr marL="0" indent="0">
              <a:buNone/>
            </a:pPr>
            <a:r>
              <a:rPr lang="en-US" sz="1200" dirty="0">
                <a:solidFill>
                  <a:srgbClr val="5C6B73"/>
                </a:solidFill>
                <a:latin typeface="Calibri" pitchFamily="34" charset="0"/>
                <a:ea typeface="Calibri" pitchFamily="34" charset="-122"/>
                <a:cs typeface="Calibri" pitchFamily="34" charset="-120"/>
              </a:rPr>
              <a:t>Blockchain layer</a:t>
            </a:r>
            <a:endParaRPr lang="en-US" sz="1200" dirty="0"/>
          </a:p>
        </p:txBody>
      </p:sp>
      <p:sp>
        <p:nvSpPr>
          <p:cNvPr id="30" name="Shape 28"/>
          <p:cNvSpPr/>
          <p:nvPr/>
        </p:nvSpPr>
        <p:spPr>
          <a:xfrm>
            <a:off x="2926080" y="5029200"/>
            <a:ext cx="164592" cy="164592"/>
          </a:xfrm>
          <a:prstGeom prst="ellipse">
            <a:avLst/>
          </a:prstGeom>
          <a:solidFill>
            <a:srgbClr val="00A896"/>
          </a:solidFill>
          <a:ln/>
        </p:spPr>
        <p:txBody>
          <a:bodyPr/>
          <a:lstStyle/>
          <a:p>
            <a:endParaRPr lang="en-US"/>
          </a:p>
        </p:txBody>
      </p:sp>
      <p:sp>
        <p:nvSpPr>
          <p:cNvPr id="31" name="Text 29"/>
          <p:cNvSpPr/>
          <p:nvPr/>
        </p:nvSpPr>
        <p:spPr>
          <a:xfrm>
            <a:off x="3182112" y="4956048"/>
            <a:ext cx="2103120" cy="320040"/>
          </a:xfrm>
          <a:prstGeom prst="rect">
            <a:avLst/>
          </a:prstGeom>
          <a:noFill/>
          <a:ln/>
        </p:spPr>
        <p:txBody>
          <a:bodyPr wrap="square" lIns="0" tIns="0" rIns="0" bIns="0" rtlCol="0" anchor="ctr"/>
          <a:lstStyle/>
          <a:p>
            <a:pPr marL="0" indent="0">
              <a:buNone/>
            </a:pPr>
            <a:r>
              <a:rPr lang="en-US" sz="1200" dirty="0">
                <a:solidFill>
                  <a:srgbClr val="5C6B73"/>
                </a:solidFill>
                <a:latin typeface="Calibri" pitchFamily="34" charset="0"/>
                <a:ea typeface="Calibri" pitchFamily="34" charset="-122"/>
                <a:cs typeface="Calibri" pitchFamily="34" charset="-120"/>
              </a:rPr>
              <a:t>Data/SQL layer</a:t>
            </a:r>
            <a:endParaRPr lang="en-US" sz="1200" dirty="0"/>
          </a:p>
        </p:txBody>
      </p:sp>
      <p:sp>
        <p:nvSpPr>
          <p:cNvPr id="32" name="Shape 30"/>
          <p:cNvSpPr/>
          <p:nvPr/>
        </p:nvSpPr>
        <p:spPr>
          <a:xfrm>
            <a:off x="5303520" y="5029200"/>
            <a:ext cx="164592" cy="164592"/>
          </a:xfrm>
          <a:prstGeom prst="ellipse">
            <a:avLst/>
          </a:prstGeom>
          <a:solidFill>
            <a:srgbClr val="02C39A"/>
          </a:solidFill>
          <a:ln/>
        </p:spPr>
        <p:txBody>
          <a:bodyPr/>
          <a:lstStyle/>
          <a:p>
            <a:endParaRPr lang="en-US"/>
          </a:p>
        </p:txBody>
      </p:sp>
      <p:sp>
        <p:nvSpPr>
          <p:cNvPr id="33" name="Text 31"/>
          <p:cNvSpPr/>
          <p:nvPr/>
        </p:nvSpPr>
        <p:spPr>
          <a:xfrm>
            <a:off x="5559552" y="4956048"/>
            <a:ext cx="2103120" cy="320040"/>
          </a:xfrm>
          <a:prstGeom prst="rect">
            <a:avLst/>
          </a:prstGeom>
          <a:noFill/>
          <a:ln/>
        </p:spPr>
        <p:txBody>
          <a:bodyPr wrap="square" lIns="0" tIns="0" rIns="0" bIns="0" rtlCol="0" anchor="ctr"/>
          <a:lstStyle/>
          <a:p>
            <a:pPr marL="0" indent="0">
              <a:buNone/>
            </a:pPr>
            <a:r>
              <a:rPr lang="en-US" sz="1200" dirty="0">
                <a:solidFill>
                  <a:srgbClr val="5C6B73"/>
                </a:solidFill>
                <a:latin typeface="Calibri" pitchFamily="34" charset="0"/>
                <a:ea typeface="Calibri" pitchFamily="34" charset="-122"/>
                <a:cs typeface="Calibri" pitchFamily="34" charset="-120"/>
              </a:rPr>
              <a:t>AI + UI layer</a:t>
            </a:r>
            <a:endParaRPr lang="en-US" sz="1200" dirty="0"/>
          </a:p>
        </p:txBody>
      </p:sp>
      <p:sp>
        <p:nvSpPr>
          <p:cNvPr id="34" name="Text 32"/>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TEAM SETUP</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Suggested Roles (3–4 Person Team)</a:t>
            </a:r>
            <a:endParaRPr lang="en-US" sz="3200" dirty="0"/>
          </a:p>
        </p:txBody>
      </p:sp>
      <p:sp>
        <p:nvSpPr>
          <p:cNvPr id="4" name="Shape 2"/>
          <p:cNvSpPr/>
          <p:nvPr/>
        </p:nvSpPr>
        <p:spPr>
          <a:xfrm>
            <a:off x="548640" y="1783080"/>
            <a:ext cx="10881360" cy="914400"/>
          </a:xfrm>
          <a:prstGeom prst="roundRect">
            <a:avLst>
              <a:gd name="adj" fmla="val 10000"/>
            </a:avLst>
          </a:prstGeom>
          <a:solidFill>
            <a:srgbClr val="F2F8F8"/>
          </a:solidFill>
          <a:ln/>
        </p:spPr>
        <p:txBody>
          <a:bodyPr/>
          <a:lstStyle/>
          <a:p>
            <a:endParaRPr lang="en-US"/>
          </a:p>
        </p:txBody>
      </p:sp>
      <p:sp>
        <p:nvSpPr>
          <p:cNvPr id="5" name="Shape 3"/>
          <p:cNvSpPr/>
          <p:nvPr/>
        </p:nvSpPr>
        <p:spPr>
          <a:xfrm>
            <a:off x="548640" y="1783080"/>
            <a:ext cx="109728" cy="914400"/>
          </a:xfrm>
          <a:prstGeom prst="roundRect">
            <a:avLst/>
          </a:prstGeom>
          <a:solidFill>
            <a:srgbClr val="028090"/>
          </a:solidFill>
          <a:ln/>
        </p:spPr>
        <p:txBody>
          <a:bodyPr/>
          <a:lstStyle/>
          <a:p>
            <a:endParaRPr lang="en-US"/>
          </a:p>
        </p:txBody>
      </p:sp>
      <p:sp>
        <p:nvSpPr>
          <p:cNvPr id="6" name="Text 4"/>
          <p:cNvSpPr/>
          <p:nvPr/>
        </p:nvSpPr>
        <p:spPr>
          <a:xfrm>
            <a:off x="914400" y="1892808"/>
            <a:ext cx="3017520" cy="68580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Blockchain Lead</a:t>
            </a:r>
            <a:endParaRPr lang="en-US" sz="1500" dirty="0"/>
          </a:p>
        </p:txBody>
      </p:sp>
      <p:sp>
        <p:nvSpPr>
          <p:cNvPr id="7" name="Text 5"/>
          <p:cNvSpPr/>
          <p:nvPr/>
        </p:nvSpPr>
        <p:spPr>
          <a:xfrm>
            <a:off x="4023360" y="1892808"/>
            <a:ext cx="4846320" cy="68580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Smart contract design &amp; testnet deployment</a:t>
            </a:r>
            <a:endParaRPr lang="en-US" sz="1300" dirty="0"/>
          </a:p>
        </p:txBody>
      </p:sp>
      <p:sp>
        <p:nvSpPr>
          <p:cNvPr id="8" name="Text 6"/>
          <p:cNvSpPr/>
          <p:nvPr/>
        </p:nvSpPr>
        <p:spPr>
          <a:xfrm>
            <a:off x="8961120" y="1892808"/>
            <a:ext cx="2377440" cy="685800"/>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Solidity, Hardhat</a:t>
            </a:r>
            <a:endParaRPr lang="en-US" sz="1250" dirty="0"/>
          </a:p>
        </p:txBody>
      </p:sp>
      <p:sp>
        <p:nvSpPr>
          <p:cNvPr id="9" name="Shape 7"/>
          <p:cNvSpPr/>
          <p:nvPr/>
        </p:nvSpPr>
        <p:spPr>
          <a:xfrm>
            <a:off x="548640" y="2862072"/>
            <a:ext cx="10881360" cy="914400"/>
          </a:xfrm>
          <a:prstGeom prst="roundRect">
            <a:avLst>
              <a:gd name="adj" fmla="val 10000"/>
            </a:avLst>
          </a:prstGeom>
          <a:solidFill>
            <a:srgbClr val="F2F8F8"/>
          </a:solidFill>
          <a:ln/>
        </p:spPr>
        <p:txBody>
          <a:bodyPr/>
          <a:lstStyle/>
          <a:p>
            <a:endParaRPr lang="en-US"/>
          </a:p>
        </p:txBody>
      </p:sp>
      <p:sp>
        <p:nvSpPr>
          <p:cNvPr id="10" name="Shape 8"/>
          <p:cNvSpPr/>
          <p:nvPr/>
        </p:nvSpPr>
        <p:spPr>
          <a:xfrm>
            <a:off x="548640" y="2862072"/>
            <a:ext cx="109728" cy="914400"/>
          </a:xfrm>
          <a:prstGeom prst="roundRect">
            <a:avLst/>
          </a:prstGeom>
          <a:solidFill>
            <a:srgbClr val="00A896"/>
          </a:solidFill>
          <a:ln/>
        </p:spPr>
        <p:txBody>
          <a:bodyPr/>
          <a:lstStyle/>
          <a:p>
            <a:endParaRPr lang="en-US"/>
          </a:p>
        </p:txBody>
      </p:sp>
      <p:sp>
        <p:nvSpPr>
          <p:cNvPr id="11" name="Text 9"/>
          <p:cNvSpPr/>
          <p:nvPr/>
        </p:nvSpPr>
        <p:spPr>
          <a:xfrm>
            <a:off x="914400" y="2971800"/>
            <a:ext cx="3017520" cy="68580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Data/Backend Lead</a:t>
            </a:r>
            <a:endParaRPr lang="en-US" sz="1500" dirty="0"/>
          </a:p>
        </p:txBody>
      </p:sp>
      <p:sp>
        <p:nvSpPr>
          <p:cNvPr id="12" name="Text 10"/>
          <p:cNvSpPr/>
          <p:nvPr/>
        </p:nvSpPr>
        <p:spPr>
          <a:xfrm>
            <a:off x="4023360" y="2971800"/>
            <a:ext cx="4846320" cy="68580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Event listener &amp; SQL schema/pipeline</a:t>
            </a:r>
            <a:endParaRPr lang="en-US" sz="1300" dirty="0"/>
          </a:p>
        </p:txBody>
      </p:sp>
      <p:sp>
        <p:nvSpPr>
          <p:cNvPr id="13" name="Text 11"/>
          <p:cNvSpPr/>
          <p:nvPr/>
        </p:nvSpPr>
        <p:spPr>
          <a:xfrm>
            <a:off x="8961120" y="2971800"/>
            <a:ext cx="2377440" cy="685800"/>
          </a:xfrm>
          <a:prstGeom prst="rect">
            <a:avLst/>
          </a:prstGeom>
          <a:noFill/>
          <a:ln/>
        </p:spPr>
        <p:txBody>
          <a:bodyPr wrap="square" lIns="0" tIns="0" rIns="0" bIns="0" rtlCol="0" anchor="ctr"/>
          <a:lstStyle/>
          <a:p>
            <a:pPr marL="0" indent="0">
              <a:buNone/>
            </a:pPr>
            <a:r>
              <a:rPr lang="en-US" sz="1250" b="1" dirty="0">
                <a:solidFill>
                  <a:srgbClr val="00A896"/>
                </a:solidFill>
                <a:latin typeface="Calibri" pitchFamily="34" charset="0"/>
                <a:ea typeface="Calibri" pitchFamily="34" charset="-122"/>
                <a:cs typeface="Calibri" pitchFamily="34" charset="-120"/>
              </a:rPr>
              <a:t>Python, PostgreSQL</a:t>
            </a:r>
            <a:endParaRPr lang="en-US" sz="1250" dirty="0"/>
          </a:p>
        </p:txBody>
      </p:sp>
      <p:sp>
        <p:nvSpPr>
          <p:cNvPr id="14" name="Shape 12"/>
          <p:cNvSpPr/>
          <p:nvPr/>
        </p:nvSpPr>
        <p:spPr>
          <a:xfrm>
            <a:off x="548640" y="3941064"/>
            <a:ext cx="10881360" cy="914400"/>
          </a:xfrm>
          <a:prstGeom prst="roundRect">
            <a:avLst>
              <a:gd name="adj" fmla="val 10000"/>
            </a:avLst>
          </a:prstGeom>
          <a:solidFill>
            <a:srgbClr val="F2F8F8"/>
          </a:solidFill>
          <a:ln/>
        </p:spPr>
        <p:txBody>
          <a:bodyPr/>
          <a:lstStyle/>
          <a:p>
            <a:endParaRPr lang="en-US"/>
          </a:p>
        </p:txBody>
      </p:sp>
      <p:sp>
        <p:nvSpPr>
          <p:cNvPr id="15" name="Shape 13"/>
          <p:cNvSpPr/>
          <p:nvPr/>
        </p:nvSpPr>
        <p:spPr>
          <a:xfrm>
            <a:off x="548640" y="3941064"/>
            <a:ext cx="109728" cy="914400"/>
          </a:xfrm>
          <a:prstGeom prst="roundRect">
            <a:avLst/>
          </a:prstGeom>
          <a:solidFill>
            <a:srgbClr val="02C39A"/>
          </a:solidFill>
          <a:ln/>
        </p:spPr>
        <p:txBody>
          <a:bodyPr/>
          <a:lstStyle/>
          <a:p>
            <a:endParaRPr lang="en-US"/>
          </a:p>
        </p:txBody>
      </p:sp>
      <p:sp>
        <p:nvSpPr>
          <p:cNvPr id="16" name="Text 14"/>
          <p:cNvSpPr/>
          <p:nvPr/>
        </p:nvSpPr>
        <p:spPr>
          <a:xfrm>
            <a:off x="914400" y="4050792"/>
            <a:ext cx="3017520" cy="68580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AI/ML Lead</a:t>
            </a:r>
            <a:endParaRPr lang="en-US" sz="1500" dirty="0"/>
          </a:p>
        </p:txBody>
      </p:sp>
      <p:sp>
        <p:nvSpPr>
          <p:cNvPr id="17" name="Text 15"/>
          <p:cNvSpPr/>
          <p:nvPr/>
        </p:nvSpPr>
        <p:spPr>
          <a:xfrm>
            <a:off x="4023360" y="4050792"/>
            <a:ext cx="4846320" cy="68580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Synthetic data, features, model training</a:t>
            </a:r>
            <a:endParaRPr lang="en-US" sz="1300" dirty="0"/>
          </a:p>
        </p:txBody>
      </p:sp>
      <p:sp>
        <p:nvSpPr>
          <p:cNvPr id="18" name="Text 16"/>
          <p:cNvSpPr/>
          <p:nvPr/>
        </p:nvSpPr>
        <p:spPr>
          <a:xfrm>
            <a:off x="8961120" y="4050792"/>
            <a:ext cx="2377440" cy="685800"/>
          </a:xfrm>
          <a:prstGeom prst="rect">
            <a:avLst/>
          </a:prstGeom>
          <a:noFill/>
          <a:ln/>
        </p:spPr>
        <p:txBody>
          <a:bodyPr wrap="square" lIns="0" tIns="0" rIns="0" bIns="0" rtlCol="0" anchor="ctr"/>
          <a:lstStyle/>
          <a:p>
            <a:pPr marL="0" indent="0">
              <a:buNone/>
            </a:pPr>
            <a:r>
              <a:rPr lang="en-US" sz="1250" b="1" dirty="0">
                <a:solidFill>
                  <a:srgbClr val="02C39A"/>
                </a:solidFill>
                <a:latin typeface="Calibri" pitchFamily="34" charset="0"/>
                <a:ea typeface="Calibri" pitchFamily="34" charset="-122"/>
                <a:cs typeface="Calibri" pitchFamily="34" charset="-120"/>
              </a:rPr>
              <a:t>scikit-learn, XGBoost</a:t>
            </a:r>
            <a:endParaRPr lang="en-US" sz="1250" dirty="0"/>
          </a:p>
        </p:txBody>
      </p:sp>
      <p:sp>
        <p:nvSpPr>
          <p:cNvPr id="19" name="Shape 17"/>
          <p:cNvSpPr/>
          <p:nvPr/>
        </p:nvSpPr>
        <p:spPr>
          <a:xfrm>
            <a:off x="548640" y="5020056"/>
            <a:ext cx="10881360" cy="914400"/>
          </a:xfrm>
          <a:prstGeom prst="roundRect">
            <a:avLst>
              <a:gd name="adj" fmla="val 10000"/>
            </a:avLst>
          </a:prstGeom>
          <a:solidFill>
            <a:srgbClr val="F2F8F8"/>
          </a:solidFill>
          <a:ln/>
        </p:spPr>
        <p:txBody>
          <a:bodyPr/>
          <a:lstStyle/>
          <a:p>
            <a:endParaRPr lang="en-US"/>
          </a:p>
        </p:txBody>
      </p:sp>
      <p:sp>
        <p:nvSpPr>
          <p:cNvPr id="20" name="Shape 18"/>
          <p:cNvSpPr/>
          <p:nvPr/>
        </p:nvSpPr>
        <p:spPr>
          <a:xfrm>
            <a:off x="548640" y="5020056"/>
            <a:ext cx="109728" cy="914400"/>
          </a:xfrm>
          <a:prstGeom prst="roundRect">
            <a:avLst/>
          </a:prstGeom>
          <a:solidFill>
            <a:srgbClr val="0F5C5C"/>
          </a:solidFill>
          <a:ln/>
        </p:spPr>
        <p:txBody>
          <a:bodyPr/>
          <a:lstStyle/>
          <a:p>
            <a:endParaRPr lang="en-US"/>
          </a:p>
        </p:txBody>
      </p:sp>
      <p:sp>
        <p:nvSpPr>
          <p:cNvPr id="21" name="Text 19"/>
          <p:cNvSpPr/>
          <p:nvPr/>
        </p:nvSpPr>
        <p:spPr>
          <a:xfrm>
            <a:off x="914400" y="5129784"/>
            <a:ext cx="3017520" cy="685800"/>
          </a:xfrm>
          <a:prstGeom prst="rect">
            <a:avLst/>
          </a:prstGeom>
          <a:noFill/>
          <a:ln/>
        </p:spPr>
        <p:txBody>
          <a:bodyPr wrap="square" lIns="0" tIns="0" rIns="0" bIns="0" rtlCol="0" anchor="ctr"/>
          <a:lstStyle/>
          <a:p>
            <a:pPr marL="0" indent="0">
              <a:buNone/>
            </a:pPr>
            <a:r>
              <a:rPr lang="en-US" sz="1500" b="1" dirty="0">
                <a:solidFill>
                  <a:srgbClr val="1B2B34"/>
                </a:solidFill>
                <a:latin typeface="Calibri" pitchFamily="34" charset="0"/>
                <a:ea typeface="Calibri" pitchFamily="34" charset="-122"/>
                <a:cs typeface="Calibri" pitchFamily="34" charset="-120"/>
              </a:rPr>
              <a:t>Frontend/Integration Lead</a:t>
            </a:r>
            <a:endParaRPr lang="en-US" sz="1500" dirty="0"/>
          </a:p>
        </p:txBody>
      </p:sp>
      <p:sp>
        <p:nvSpPr>
          <p:cNvPr id="22" name="Text 20"/>
          <p:cNvSpPr/>
          <p:nvPr/>
        </p:nvSpPr>
        <p:spPr>
          <a:xfrm>
            <a:off x="4023360" y="5129784"/>
            <a:ext cx="4846320" cy="685800"/>
          </a:xfrm>
          <a:prstGeom prst="rect">
            <a:avLst/>
          </a:prstGeom>
          <a:noFill/>
          <a:ln/>
        </p:spPr>
        <p:txBody>
          <a:bodyPr wrap="square" lIns="0" tIns="0" rIns="0" bIns="0" rtlCol="0" anchor="ctr"/>
          <a:lstStyle/>
          <a:p>
            <a:pPr marL="0" indent="0">
              <a:buNone/>
            </a:pPr>
            <a:r>
              <a:rPr lang="en-US" sz="1300" dirty="0">
                <a:solidFill>
                  <a:srgbClr val="5C6B73"/>
                </a:solidFill>
                <a:latin typeface="Calibri" pitchFamily="34" charset="0"/>
                <a:ea typeface="Calibri" pitchFamily="34" charset="-122"/>
                <a:cs typeface="Calibri" pitchFamily="34" charset="-120"/>
              </a:rPr>
              <a:t>Dashboard &amp; tying it all together</a:t>
            </a:r>
            <a:endParaRPr lang="en-US" sz="1300" dirty="0"/>
          </a:p>
        </p:txBody>
      </p:sp>
      <p:sp>
        <p:nvSpPr>
          <p:cNvPr id="23" name="Text 21"/>
          <p:cNvSpPr/>
          <p:nvPr/>
        </p:nvSpPr>
        <p:spPr>
          <a:xfrm>
            <a:off x="8961120" y="5129784"/>
            <a:ext cx="2377440" cy="685800"/>
          </a:xfrm>
          <a:prstGeom prst="rect">
            <a:avLst/>
          </a:prstGeom>
          <a:noFill/>
          <a:ln/>
        </p:spPr>
        <p:txBody>
          <a:bodyPr wrap="square" lIns="0" tIns="0" rIns="0" bIns="0" rtlCol="0" anchor="ctr"/>
          <a:lstStyle/>
          <a:p>
            <a:pPr marL="0" indent="0">
              <a:buNone/>
            </a:pPr>
            <a:r>
              <a:rPr lang="en-US" sz="1250" b="1" dirty="0">
                <a:solidFill>
                  <a:srgbClr val="0F5C5C"/>
                </a:solidFill>
                <a:latin typeface="Calibri" pitchFamily="34" charset="0"/>
                <a:ea typeface="Calibri" pitchFamily="34" charset="-122"/>
                <a:cs typeface="Calibri" pitchFamily="34" charset="-120"/>
              </a:rPr>
              <a:t>Streamlit / Flask</a:t>
            </a:r>
            <a:endParaRPr lang="en-US" sz="1250" dirty="0"/>
          </a:p>
        </p:txBody>
      </p:sp>
      <p:sp>
        <p:nvSpPr>
          <p:cNvPr id="24" name="Text 22"/>
          <p:cNvSpPr/>
          <p:nvPr/>
        </p:nvSpPr>
        <p:spPr>
          <a:xfrm>
            <a:off x="548640" y="6172200"/>
            <a:ext cx="10515600" cy="365760"/>
          </a:xfrm>
          <a:prstGeom prst="rect">
            <a:avLst/>
          </a:prstGeom>
          <a:noFill/>
          <a:ln/>
        </p:spPr>
        <p:txBody>
          <a:bodyPr wrap="square" lIns="0" tIns="0" rIns="0" bIns="0" rtlCol="0" anchor="ctr"/>
          <a:lstStyle/>
          <a:p>
            <a:pPr marL="0" indent="0">
              <a:buNone/>
            </a:pPr>
            <a:r>
              <a:rPr lang="en-US" sz="1250" i="1" dirty="0">
                <a:solidFill>
                  <a:srgbClr val="5C6B73"/>
                </a:solidFill>
                <a:latin typeface="Calibri" pitchFamily="34" charset="0"/>
                <a:ea typeface="Calibri" pitchFamily="34" charset="-122"/>
                <a:cs typeface="Calibri" pitchFamily="34" charset="-120"/>
              </a:rPr>
              <a:t>2-person team? Merge Blockchain + Backend, and AI + Frontend. Solo? Use the simplified path throughout.</a:t>
            </a:r>
            <a:endParaRPr lang="en-US" sz="1250" dirty="0"/>
          </a:p>
        </p:txBody>
      </p:sp>
      <p:sp>
        <p:nvSpPr>
          <p:cNvPr id="25" name="Text 23"/>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MODULE 1 OF 4</a:t>
            </a:r>
            <a:endParaRPr lang="en-US" sz="1300" dirty="0"/>
          </a:p>
        </p:txBody>
      </p:sp>
      <p:sp>
        <p:nvSpPr>
          <p:cNvPr id="3" name="Text 1"/>
          <p:cNvSpPr/>
          <p:nvPr/>
        </p:nvSpPr>
        <p:spPr>
          <a:xfrm>
            <a:off x="548640" y="621792"/>
            <a:ext cx="777240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Blockchain Layer</a:t>
            </a:r>
            <a:endParaRPr lang="en-US" sz="3200" dirty="0"/>
          </a:p>
        </p:txBody>
      </p:sp>
      <p:sp>
        <p:nvSpPr>
          <p:cNvPr id="4" name="Shape 2"/>
          <p:cNvSpPr/>
          <p:nvPr/>
        </p:nvSpPr>
        <p:spPr>
          <a:xfrm>
            <a:off x="10332720" y="502920"/>
            <a:ext cx="822960" cy="82296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5" name="Text 3"/>
          <p:cNvSpPr/>
          <p:nvPr/>
        </p:nvSpPr>
        <p:spPr>
          <a:xfrm>
            <a:off x="10332720" y="50292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BC</a:t>
            </a:r>
            <a:endParaRPr lang="en-US" sz="1500" dirty="0"/>
          </a:p>
        </p:txBody>
      </p:sp>
      <p:sp>
        <p:nvSpPr>
          <p:cNvPr id="6" name="Text 4"/>
          <p:cNvSpPr/>
          <p:nvPr/>
        </p:nvSpPr>
        <p:spPr>
          <a:xfrm>
            <a:off x="548640" y="1234440"/>
            <a:ext cx="10515600" cy="411480"/>
          </a:xfrm>
          <a:prstGeom prst="rect">
            <a:avLst/>
          </a:prstGeom>
          <a:noFill/>
          <a:ln/>
        </p:spPr>
        <p:txBody>
          <a:bodyPr wrap="square" lIns="0" tIns="0" rIns="0" bIns="0"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Records invoice, shipment, and payment events as an immutable, shared log.</a:t>
            </a:r>
            <a:endParaRPr lang="en-US" sz="1400" dirty="0"/>
          </a:p>
        </p:txBody>
      </p:sp>
      <p:sp>
        <p:nvSpPr>
          <p:cNvPr id="7" name="Shape 5"/>
          <p:cNvSpPr/>
          <p:nvPr/>
        </p:nvSpPr>
        <p:spPr>
          <a:xfrm>
            <a:off x="548640" y="1874520"/>
            <a:ext cx="10881360" cy="877824"/>
          </a:xfrm>
          <a:prstGeom prst="roundRect">
            <a:avLst>
              <a:gd name="adj" fmla="val 8333"/>
            </a:avLst>
          </a:prstGeom>
          <a:solidFill>
            <a:srgbClr val="F2F8F8"/>
          </a:solidFill>
          <a:ln/>
        </p:spPr>
        <p:txBody>
          <a:bodyPr/>
          <a:lstStyle/>
          <a:p>
            <a:endParaRPr lang="en-US"/>
          </a:p>
        </p:txBody>
      </p:sp>
      <p:sp>
        <p:nvSpPr>
          <p:cNvPr id="8" name="Shape 6"/>
          <p:cNvSpPr/>
          <p:nvPr/>
        </p:nvSpPr>
        <p:spPr>
          <a:xfrm>
            <a:off x="777240" y="1993392"/>
            <a:ext cx="566928" cy="566928"/>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9" name="Text 7"/>
          <p:cNvSpPr/>
          <p:nvPr/>
        </p:nvSpPr>
        <p:spPr>
          <a:xfrm>
            <a:off x="777240" y="199339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0" name="Text 8"/>
          <p:cNvSpPr/>
          <p:nvPr/>
        </p:nvSpPr>
        <p:spPr>
          <a:xfrm>
            <a:off x="1600200" y="1929384"/>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Solidity + Hardhat</a:t>
            </a:r>
            <a:endParaRPr lang="en-US" sz="1450" dirty="0"/>
          </a:p>
        </p:txBody>
      </p:sp>
      <p:sp>
        <p:nvSpPr>
          <p:cNvPr id="11" name="Text 9"/>
          <p:cNvSpPr/>
          <p:nvPr/>
        </p:nvSpPr>
        <p:spPr>
          <a:xfrm>
            <a:off x="4937760" y="1929384"/>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Write and deploy the smart contract that emits InvoiceCreated, ShipmentConfirmed, and PaymentReleased events.</a:t>
            </a:r>
            <a:endParaRPr lang="en-US" sz="1250" dirty="0"/>
          </a:p>
        </p:txBody>
      </p:sp>
      <p:sp>
        <p:nvSpPr>
          <p:cNvPr id="12" name="Shape 10"/>
          <p:cNvSpPr/>
          <p:nvPr/>
        </p:nvSpPr>
        <p:spPr>
          <a:xfrm>
            <a:off x="548640" y="2898648"/>
            <a:ext cx="10881360" cy="877824"/>
          </a:xfrm>
          <a:prstGeom prst="roundRect">
            <a:avLst>
              <a:gd name="adj" fmla="val 8333"/>
            </a:avLst>
          </a:prstGeom>
          <a:solidFill>
            <a:srgbClr val="F2F8F8"/>
          </a:solidFill>
          <a:ln/>
        </p:spPr>
        <p:txBody>
          <a:bodyPr/>
          <a:lstStyle/>
          <a:p>
            <a:endParaRPr lang="en-US"/>
          </a:p>
        </p:txBody>
      </p:sp>
      <p:sp>
        <p:nvSpPr>
          <p:cNvPr id="13" name="Shape 11"/>
          <p:cNvSpPr/>
          <p:nvPr/>
        </p:nvSpPr>
        <p:spPr>
          <a:xfrm>
            <a:off x="777240" y="3017520"/>
            <a:ext cx="566928" cy="566928"/>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4" name="Text 12"/>
          <p:cNvSpPr/>
          <p:nvPr/>
        </p:nvSpPr>
        <p:spPr>
          <a:xfrm>
            <a:off x="777240" y="3017520"/>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5" name="Text 13"/>
          <p:cNvSpPr/>
          <p:nvPr/>
        </p:nvSpPr>
        <p:spPr>
          <a:xfrm>
            <a:off x="1600200" y="2953512"/>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Remix IDE</a:t>
            </a:r>
            <a:endParaRPr lang="en-US" sz="1450" dirty="0"/>
          </a:p>
        </p:txBody>
      </p:sp>
      <p:sp>
        <p:nvSpPr>
          <p:cNvPr id="16" name="Text 14"/>
          <p:cNvSpPr/>
          <p:nvPr/>
        </p:nvSpPr>
        <p:spPr>
          <a:xfrm>
            <a:off x="4937760" y="2953512"/>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Fast browser-based testing while learning Solidity — no local install needed for week 1.</a:t>
            </a:r>
            <a:endParaRPr lang="en-US" sz="1250" dirty="0"/>
          </a:p>
        </p:txBody>
      </p:sp>
      <p:sp>
        <p:nvSpPr>
          <p:cNvPr id="17" name="Shape 15"/>
          <p:cNvSpPr/>
          <p:nvPr/>
        </p:nvSpPr>
        <p:spPr>
          <a:xfrm>
            <a:off x="548640" y="3922776"/>
            <a:ext cx="10881360" cy="877824"/>
          </a:xfrm>
          <a:prstGeom prst="roundRect">
            <a:avLst>
              <a:gd name="adj" fmla="val 8333"/>
            </a:avLst>
          </a:prstGeom>
          <a:solidFill>
            <a:srgbClr val="F2F8F8"/>
          </a:solidFill>
          <a:ln/>
        </p:spPr>
        <p:txBody>
          <a:bodyPr/>
          <a:lstStyle/>
          <a:p>
            <a:endParaRPr lang="en-US"/>
          </a:p>
        </p:txBody>
      </p:sp>
      <p:sp>
        <p:nvSpPr>
          <p:cNvPr id="18" name="Shape 16"/>
          <p:cNvSpPr/>
          <p:nvPr/>
        </p:nvSpPr>
        <p:spPr>
          <a:xfrm>
            <a:off x="777240" y="4041648"/>
            <a:ext cx="566928" cy="566928"/>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9" name="Text 17"/>
          <p:cNvSpPr/>
          <p:nvPr/>
        </p:nvSpPr>
        <p:spPr>
          <a:xfrm>
            <a:off x="777240" y="4041648"/>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0" name="Text 18"/>
          <p:cNvSpPr/>
          <p:nvPr/>
        </p:nvSpPr>
        <p:spPr>
          <a:xfrm>
            <a:off x="1600200" y="3977640"/>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MetaMask</a:t>
            </a:r>
            <a:endParaRPr lang="en-US" sz="1450" dirty="0"/>
          </a:p>
        </p:txBody>
      </p:sp>
      <p:sp>
        <p:nvSpPr>
          <p:cNvPr id="21" name="Text 19"/>
          <p:cNvSpPr/>
          <p:nvPr/>
        </p:nvSpPr>
        <p:spPr>
          <a:xfrm>
            <a:off x="4937760" y="3977640"/>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Wallet used to sign and send transactions to the deployed contract.</a:t>
            </a:r>
            <a:endParaRPr lang="en-US" sz="1250" dirty="0"/>
          </a:p>
        </p:txBody>
      </p:sp>
      <p:sp>
        <p:nvSpPr>
          <p:cNvPr id="22" name="Shape 20"/>
          <p:cNvSpPr/>
          <p:nvPr/>
        </p:nvSpPr>
        <p:spPr>
          <a:xfrm>
            <a:off x="548640" y="4946904"/>
            <a:ext cx="10881360" cy="877824"/>
          </a:xfrm>
          <a:prstGeom prst="roundRect">
            <a:avLst>
              <a:gd name="adj" fmla="val 8333"/>
            </a:avLst>
          </a:prstGeom>
          <a:solidFill>
            <a:srgbClr val="F2F8F8"/>
          </a:solidFill>
          <a:ln/>
        </p:spPr>
        <p:txBody>
          <a:bodyPr/>
          <a:lstStyle/>
          <a:p>
            <a:endParaRPr lang="en-US"/>
          </a:p>
        </p:txBody>
      </p:sp>
      <p:sp>
        <p:nvSpPr>
          <p:cNvPr id="23" name="Shape 21"/>
          <p:cNvSpPr/>
          <p:nvPr/>
        </p:nvSpPr>
        <p:spPr>
          <a:xfrm>
            <a:off x="777240" y="5065776"/>
            <a:ext cx="566928" cy="566928"/>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24" name="Text 22"/>
          <p:cNvSpPr/>
          <p:nvPr/>
        </p:nvSpPr>
        <p:spPr>
          <a:xfrm>
            <a:off x="777240" y="5065776"/>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5" name="Text 23"/>
          <p:cNvSpPr/>
          <p:nvPr/>
        </p:nvSpPr>
        <p:spPr>
          <a:xfrm>
            <a:off x="1600200" y="5001768"/>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Sepolia Testnet</a:t>
            </a:r>
            <a:endParaRPr lang="en-US" sz="1450" dirty="0"/>
          </a:p>
        </p:txBody>
      </p:sp>
      <p:sp>
        <p:nvSpPr>
          <p:cNvPr id="26" name="Text 24"/>
          <p:cNvSpPr/>
          <p:nvPr/>
        </p:nvSpPr>
        <p:spPr>
          <a:xfrm>
            <a:off x="4937760" y="5001768"/>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Free Ethereum test network — no real funds required, test ETH from a faucet.</a:t>
            </a:r>
            <a:endParaRPr lang="en-US" sz="1250" dirty="0"/>
          </a:p>
        </p:txBody>
      </p:sp>
      <p:sp>
        <p:nvSpPr>
          <p:cNvPr id="27" name="Text 25"/>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MODULE 2 OF 4</a:t>
            </a:r>
            <a:endParaRPr lang="en-US" sz="1300" dirty="0"/>
          </a:p>
        </p:txBody>
      </p:sp>
      <p:sp>
        <p:nvSpPr>
          <p:cNvPr id="3" name="Text 1"/>
          <p:cNvSpPr/>
          <p:nvPr/>
        </p:nvSpPr>
        <p:spPr>
          <a:xfrm>
            <a:off x="548640" y="621792"/>
            <a:ext cx="777240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SQL / Data Layer</a:t>
            </a:r>
            <a:endParaRPr lang="en-US" sz="3200" dirty="0"/>
          </a:p>
        </p:txBody>
      </p:sp>
      <p:sp>
        <p:nvSpPr>
          <p:cNvPr id="4" name="Shape 2"/>
          <p:cNvSpPr/>
          <p:nvPr/>
        </p:nvSpPr>
        <p:spPr>
          <a:xfrm>
            <a:off x="10332720" y="502920"/>
            <a:ext cx="822960" cy="822960"/>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5" name="Text 3"/>
          <p:cNvSpPr/>
          <p:nvPr/>
        </p:nvSpPr>
        <p:spPr>
          <a:xfrm>
            <a:off x="10332720" y="50292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DB</a:t>
            </a:r>
            <a:endParaRPr lang="en-US" sz="1500" dirty="0"/>
          </a:p>
        </p:txBody>
      </p:sp>
      <p:sp>
        <p:nvSpPr>
          <p:cNvPr id="6" name="Text 4"/>
          <p:cNvSpPr/>
          <p:nvPr/>
        </p:nvSpPr>
        <p:spPr>
          <a:xfrm>
            <a:off x="548640" y="1234440"/>
            <a:ext cx="10515600" cy="411480"/>
          </a:xfrm>
          <a:prstGeom prst="rect">
            <a:avLst/>
          </a:prstGeom>
          <a:noFill/>
          <a:ln/>
        </p:spPr>
        <p:txBody>
          <a:bodyPr wrap="square" lIns="0" tIns="0" rIns="0" bIns="0"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Mirrors on-chain events into structured tables for fast queries, dashboards, and model training data.</a:t>
            </a:r>
            <a:endParaRPr lang="en-US" sz="1400" dirty="0"/>
          </a:p>
        </p:txBody>
      </p:sp>
      <p:sp>
        <p:nvSpPr>
          <p:cNvPr id="7" name="Shape 5"/>
          <p:cNvSpPr/>
          <p:nvPr/>
        </p:nvSpPr>
        <p:spPr>
          <a:xfrm>
            <a:off x="548640" y="1874520"/>
            <a:ext cx="10881360" cy="877824"/>
          </a:xfrm>
          <a:prstGeom prst="roundRect">
            <a:avLst>
              <a:gd name="adj" fmla="val 8333"/>
            </a:avLst>
          </a:prstGeom>
          <a:solidFill>
            <a:srgbClr val="F2F8F8"/>
          </a:solidFill>
          <a:ln/>
        </p:spPr>
        <p:txBody>
          <a:bodyPr/>
          <a:lstStyle/>
          <a:p>
            <a:endParaRPr lang="en-US"/>
          </a:p>
        </p:txBody>
      </p:sp>
      <p:sp>
        <p:nvSpPr>
          <p:cNvPr id="8" name="Shape 6"/>
          <p:cNvSpPr/>
          <p:nvPr/>
        </p:nvSpPr>
        <p:spPr>
          <a:xfrm>
            <a:off x="777240" y="1993392"/>
            <a:ext cx="566928" cy="566928"/>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9" name="Text 7"/>
          <p:cNvSpPr/>
          <p:nvPr/>
        </p:nvSpPr>
        <p:spPr>
          <a:xfrm>
            <a:off x="777240" y="199339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0" name="Text 8"/>
          <p:cNvSpPr/>
          <p:nvPr/>
        </p:nvSpPr>
        <p:spPr>
          <a:xfrm>
            <a:off x="1600200" y="1929384"/>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PostgreSQL</a:t>
            </a:r>
            <a:endParaRPr lang="en-US" sz="1450" dirty="0"/>
          </a:p>
        </p:txBody>
      </p:sp>
      <p:sp>
        <p:nvSpPr>
          <p:cNvPr id="11" name="Text 9"/>
          <p:cNvSpPr/>
          <p:nvPr/>
        </p:nvSpPr>
        <p:spPr>
          <a:xfrm>
            <a:off x="4937760" y="1929384"/>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Relational database storing Parties, Invoices, Shipments, Transactions, and RiskScores tables.</a:t>
            </a:r>
            <a:endParaRPr lang="en-US" sz="1250" dirty="0"/>
          </a:p>
        </p:txBody>
      </p:sp>
      <p:sp>
        <p:nvSpPr>
          <p:cNvPr id="12" name="Shape 10"/>
          <p:cNvSpPr/>
          <p:nvPr/>
        </p:nvSpPr>
        <p:spPr>
          <a:xfrm>
            <a:off x="548640" y="2898648"/>
            <a:ext cx="10881360" cy="877824"/>
          </a:xfrm>
          <a:prstGeom prst="roundRect">
            <a:avLst>
              <a:gd name="adj" fmla="val 8333"/>
            </a:avLst>
          </a:prstGeom>
          <a:solidFill>
            <a:srgbClr val="F2F8F8"/>
          </a:solidFill>
          <a:ln/>
        </p:spPr>
        <p:txBody>
          <a:bodyPr/>
          <a:lstStyle/>
          <a:p>
            <a:endParaRPr lang="en-US"/>
          </a:p>
        </p:txBody>
      </p:sp>
      <p:sp>
        <p:nvSpPr>
          <p:cNvPr id="13" name="Shape 11"/>
          <p:cNvSpPr/>
          <p:nvPr/>
        </p:nvSpPr>
        <p:spPr>
          <a:xfrm>
            <a:off x="777240" y="3017520"/>
            <a:ext cx="566928" cy="566928"/>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14" name="Text 12"/>
          <p:cNvSpPr/>
          <p:nvPr/>
        </p:nvSpPr>
        <p:spPr>
          <a:xfrm>
            <a:off x="777240" y="3017520"/>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5" name="Text 13"/>
          <p:cNvSpPr/>
          <p:nvPr/>
        </p:nvSpPr>
        <p:spPr>
          <a:xfrm>
            <a:off x="1600200" y="2953512"/>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web3.py</a:t>
            </a:r>
            <a:endParaRPr lang="en-US" sz="1450" dirty="0"/>
          </a:p>
        </p:txBody>
      </p:sp>
      <p:sp>
        <p:nvSpPr>
          <p:cNvPr id="16" name="Text 14"/>
          <p:cNvSpPr/>
          <p:nvPr/>
        </p:nvSpPr>
        <p:spPr>
          <a:xfrm>
            <a:off x="4937760" y="2953512"/>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Python library that listens for contract events and writes them into PostgreSQL — the chain-to-SQL bridge.</a:t>
            </a:r>
            <a:endParaRPr lang="en-US" sz="1250" dirty="0"/>
          </a:p>
        </p:txBody>
      </p:sp>
      <p:sp>
        <p:nvSpPr>
          <p:cNvPr id="17" name="Shape 15"/>
          <p:cNvSpPr/>
          <p:nvPr/>
        </p:nvSpPr>
        <p:spPr>
          <a:xfrm>
            <a:off x="548640" y="3922776"/>
            <a:ext cx="10881360" cy="877824"/>
          </a:xfrm>
          <a:prstGeom prst="roundRect">
            <a:avLst>
              <a:gd name="adj" fmla="val 8333"/>
            </a:avLst>
          </a:prstGeom>
          <a:solidFill>
            <a:srgbClr val="F2F8F8"/>
          </a:solidFill>
          <a:ln/>
        </p:spPr>
        <p:txBody>
          <a:bodyPr/>
          <a:lstStyle/>
          <a:p>
            <a:endParaRPr lang="en-US"/>
          </a:p>
        </p:txBody>
      </p:sp>
      <p:sp>
        <p:nvSpPr>
          <p:cNvPr id="18" name="Shape 16"/>
          <p:cNvSpPr/>
          <p:nvPr/>
        </p:nvSpPr>
        <p:spPr>
          <a:xfrm>
            <a:off x="777240" y="4041648"/>
            <a:ext cx="566928" cy="566928"/>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19" name="Text 17"/>
          <p:cNvSpPr/>
          <p:nvPr/>
        </p:nvSpPr>
        <p:spPr>
          <a:xfrm>
            <a:off x="777240" y="4041648"/>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0" name="Text 18"/>
          <p:cNvSpPr/>
          <p:nvPr/>
        </p:nvSpPr>
        <p:spPr>
          <a:xfrm>
            <a:off x="1600200" y="3977640"/>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pgAdmin / DBeaver</a:t>
            </a:r>
            <a:endParaRPr lang="en-US" sz="1450" dirty="0"/>
          </a:p>
        </p:txBody>
      </p:sp>
      <p:sp>
        <p:nvSpPr>
          <p:cNvPr id="21" name="Text 19"/>
          <p:cNvSpPr/>
          <p:nvPr/>
        </p:nvSpPr>
        <p:spPr>
          <a:xfrm>
            <a:off x="4937760" y="3977640"/>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GUI tools for designing the schema, running queries, and debugging data during development.</a:t>
            </a:r>
            <a:endParaRPr lang="en-US" sz="1250" dirty="0"/>
          </a:p>
        </p:txBody>
      </p:sp>
      <p:sp>
        <p:nvSpPr>
          <p:cNvPr id="22" name="Shape 20"/>
          <p:cNvSpPr/>
          <p:nvPr/>
        </p:nvSpPr>
        <p:spPr>
          <a:xfrm>
            <a:off x="548640" y="4946904"/>
            <a:ext cx="10881360" cy="877824"/>
          </a:xfrm>
          <a:prstGeom prst="roundRect">
            <a:avLst>
              <a:gd name="adj" fmla="val 8333"/>
            </a:avLst>
          </a:prstGeom>
          <a:solidFill>
            <a:srgbClr val="F2F8F8"/>
          </a:solidFill>
          <a:ln/>
        </p:spPr>
        <p:txBody>
          <a:bodyPr/>
          <a:lstStyle/>
          <a:p>
            <a:endParaRPr lang="en-US"/>
          </a:p>
        </p:txBody>
      </p:sp>
      <p:sp>
        <p:nvSpPr>
          <p:cNvPr id="23" name="Shape 21"/>
          <p:cNvSpPr/>
          <p:nvPr/>
        </p:nvSpPr>
        <p:spPr>
          <a:xfrm>
            <a:off x="777240" y="5065776"/>
            <a:ext cx="566928" cy="566928"/>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24" name="Text 22"/>
          <p:cNvSpPr/>
          <p:nvPr/>
        </p:nvSpPr>
        <p:spPr>
          <a:xfrm>
            <a:off x="777240" y="5065776"/>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5" name="Text 23"/>
          <p:cNvSpPr/>
          <p:nvPr/>
        </p:nvSpPr>
        <p:spPr>
          <a:xfrm>
            <a:off x="1600200" y="5001768"/>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Hosted Postgres (Supabase / Neon / Railway)</a:t>
            </a:r>
            <a:endParaRPr lang="en-US" sz="1450" dirty="0"/>
          </a:p>
        </p:txBody>
      </p:sp>
      <p:sp>
        <p:nvSpPr>
          <p:cNvPr id="26" name="Text 24"/>
          <p:cNvSpPr/>
          <p:nvPr/>
        </p:nvSpPr>
        <p:spPr>
          <a:xfrm>
            <a:off x="4937760" y="5001768"/>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Optional — a free hosted instance avoids local database setup entirely.</a:t>
            </a:r>
            <a:endParaRPr lang="en-US" sz="1250" dirty="0"/>
          </a:p>
        </p:txBody>
      </p:sp>
      <p:sp>
        <p:nvSpPr>
          <p:cNvPr id="27" name="Text 25"/>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MODULE 3 OF 4</a:t>
            </a:r>
            <a:endParaRPr lang="en-US" sz="1300" dirty="0"/>
          </a:p>
        </p:txBody>
      </p:sp>
      <p:sp>
        <p:nvSpPr>
          <p:cNvPr id="3" name="Text 1"/>
          <p:cNvSpPr/>
          <p:nvPr/>
        </p:nvSpPr>
        <p:spPr>
          <a:xfrm>
            <a:off x="548640" y="621792"/>
            <a:ext cx="777240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AI / ML Layer</a:t>
            </a:r>
            <a:endParaRPr lang="en-US" sz="3200" dirty="0"/>
          </a:p>
        </p:txBody>
      </p:sp>
      <p:sp>
        <p:nvSpPr>
          <p:cNvPr id="4" name="Shape 2"/>
          <p:cNvSpPr/>
          <p:nvPr/>
        </p:nvSpPr>
        <p:spPr>
          <a:xfrm>
            <a:off x="10332720" y="502920"/>
            <a:ext cx="822960" cy="822960"/>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5" name="Text 3"/>
          <p:cNvSpPr/>
          <p:nvPr/>
        </p:nvSpPr>
        <p:spPr>
          <a:xfrm>
            <a:off x="10332720" y="50292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6" name="Text 4"/>
          <p:cNvSpPr/>
          <p:nvPr/>
        </p:nvSpPr>
        <p:spPr>
          <a:xfrm>
            <a:off x="548640" y="1234440"/>
            <a:ext cx="10515600" cy="411480"/>
          </a:xfrm>
          <a:prstGeom prst="rect">
            <a:avLst/>
          </a:prstGeom>
          <a:noFill/>
          <a:ln/>
        </p:spPr>
        <p:txBody>
          <a:bodyPr wrap="square" lIns="0" tIns="0" rIns="0" bIns="0"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Learns transaction patterns to score fraud and default risk beyond what simple rules can catch.</a:t>
            </a:r>
            <a:endParaRPr lang="en-US" sz="1400" dirty="0"/>
          </a:p>
        </p:txBody>
      </p:sp>
      <p:sp>
        <p:nvSpPr>
          <p:cNvPr id="7" name="Shape 5"/>
          <p:cNvSpPr/>
          <p:nvPr/>
        </p:nvSpPr>
        <p:spPr>
          <a:xfrm>
            <a:off x="548640" y="1874520"/>
            <a:ext cx="10881360" cy="877824"/>
          </a:xfrm>
          <a:prstGeom prst="roundRect">
            <a:avLst>
              <a:gd name="adj" fmla="val 8333"/>
            </a:avLst>
          </a:prstGeom>
          <a:solidFill>
            <a:srgbClr val="F2F8F8"/>
          </a:solidFill>
          <a:ln/>
        </p:spPr>
        <p:txBody>
          <a:bodyPr/>
          <a:lstStyle/>
          <a:p>
            <a:endParaRPr lang="en-US"/>
          </a:p>
        </p:txBody>
      </p:sp>
      <p:sp>
        <p:nvSpPr>
          <p:cNvPr id="8" name="Shape 6"/>
          <p:cNvSpPr/>
          <p:nvPr/>
        </p:nvSpPr>
        <p:spPr>
          <a:xfrm>
            <a:off x="777240" y="1993392"/>
            <a:ext cx="566928" cy="566928"/>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9" name="Text 7"/>
          <p:cNvSpPr/>
          <p:nvPr/>
        </p:nvSpPr>
        <p:spPr>
          <a:xfrm>
            <a:off x="777240" y="199339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0" name="Text 8"/>
          <p:cNvSpPr/>
          <p:nvPr/>
        </p:nvSpPr>
        <p:spPr>
          <a:xfrm>
            <a:off x="1600200" y="1929384"/>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Python + pandas</a:t>
            </a:r>
            <a:endParaRPr lang="en-US" sz="1450" dirty="0"/>
          </a:p>
        </p:txBody>
      </p:sp>
      <p:sp>
        <p:nvSpPr>
          <p:cNvPr id="11" name="Text 9"/>
          <p:cNvSpPr/>
          <p:nvPr/>
        </p:nvSpPr>
        <p:spPr>
          <a:xfrm>
            <a:off x="4937760" y="1929384"/>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Generates synthetic transactions and engineers features (amount deviation, timing gaps, party history).</a:t>
            </a:r>
            <a:endParaRPr lang="en-US" sz="1250" dirty="0"/>
          </a:p>
        </p:txBody>
      </p:sp>
      <p:sp>
        <p:nvSpPr>
          <p:cNvPr id="12" name="Shape 10"/>
          <p:cNvSpPr/>
          <p:nvPr/>
        </p:nvSpPr>
        <p:spPr>
          <a:xfrm>
            <a:off x="548640" y="2898648"/>
            <a:ext cx="10881360" cy="877824"/>
          </a:xfrm>
          <a:prstGeom prst="roundRect">
            <a:avLst>
              <a:gd name="adj" fmla="val 8333"/>
            </a:avLst>
          </a:prstGeom>
          <a:solidFill>
            <a:srgbClr val="F2F8F8"/>
          </a:solidFill>
          <a:ln/>
        </p:spPr>
        <p:txBody>
          <a:bodyPr/>
          <a:lstStyle/>
          <a:p>
            <a:endParaRPr lang="en-US"/>
          </a:p>
        </p:txBody>
      </p:sp>
      <p:sp>
        <p:nvSpPr>
          <p:cNvPr id="13" name="Shape 11"/>
          <p:cNvSpPr/>
          <p:nvPr/>
        </p:nvSpPr>
        <p:spPr>
          <a:xfrm>
            <a:off x="777240" y="3017520"/>
            <a:ext cx="566928" cy="566928"/>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14" name="Text 12"/>
          <p:cNvSpPr/>
          <p:nvPr/>
        </p:nvSpPr>
        <p:spPr>
          <a:xfrm>
            <a:off x="777240" y="3017520"/>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5" name="Text 13"/>
          <p:cNvSpPr/>
          <p:nvPr/>
        </p:nvSpPr>
        <p:spPr>
          <a:xfrm>
            <a:off x="1600200" y="2953512"/>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scikit-learn / XGBoost</a:t>
            </a:r>
            <a:endParaRPr lang="en-US" sz="1450" dirty="0"/>
          </a:p>
        </p:txBody>
      </p:sp>
      <p:sp>
        <p:nvSpPr>
          <p:cNvPr id="16" name="Text 14"/>
          <p:cNvSpPr/>
          <p:nvPr/>
        </p:nvSpPr>
        <p:spPr>
          <a:xfrm>
            <a:off x="4937760" y="2953512"/>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Trains the risk-scoring classifier; XGBoost's scale_pos_weight handles class imbalance without resampling.</a:t>
            </a:r>
            <a:endParaRPr lang="en-US" sz="1250" dirty="0"/>
          </a:p>
        </p:txBody>
      </p:sp>
      <p:sp>
        <p:nvSpPr>
          <p:cNvPr id="17" name="Shape 15"/>
          <p:cNvSpPr/>
          <p:nvPr/>
        </p:nvSpPr>
        <p:spPr>
          <a:xfrm>
            <a:off x="548640" y="3922776"/>
            <a:ext cx="10881360" cy="877824"/>
          </a:xfrm>
          <a:prstGeom prst="roundRect">
            <a:avLst>
              <a:gd name="adj" fmla="val 8333"/>
            </a:avLst>
          </a:prstGeom>
          <a:solidFill>
            <a:srgbClr val="F2F8F8"/>
          </a:solidFill>
          <a:ln/>
        </p:spPr>
        <p:txBody>
          <a:bodyPr/>
          <a:lstStyle/>
          <a:p>
            <a:endParaRPr lang="en-US"/>
          </a:p>
        </p:txBody>
      </p:sp>
      <p:sp>
        <p:nvSpPr>
          <p:cNvPr id="18" name="Shape 16"/>
          <p:cNvSpPr/>
          <p:nvPr/>
        </p:nvSpPr>
        <p:spPr>
          <a:xfrm>
            <a:off x="777240" y="4041648"/>
            <a:ext cx="566928" cy="566928"/>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19" name="Text 17"/>
          <p:cNvSpPr/>
          <p:nvPr/>
        </p:nvSpPr>
        <p:spPr>
          <a:xfrm>
            <a:off x="777240" y="4041648"/>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0" name="Text 18"/>
          <p:cNvSpPr/>
          <p:nvPr/>
        </p:nvSpPr>
        <p:spPr>
          <a:xfrm>
            <a:off x="1600200" y="3977640"/>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SHAP</a:t>
            </a:r>
            <a:endParaRPr lang="en-US" sz="1450" dirty="0"/>
          </a:p>
        </p:txBody>
      </p:sp>
      <p:sp>
        <p:nvSpPr>
          <p:cNvPr id="21" name="Text 19"/>
          <p:cNvSpPr/>
          <p:nvPr/>
        </p:nvSpPr>
        <p:spPr>
          <a:xfrm>
            <a:off x="4937760" y="3977640"/>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Explains individual predictions — shows which features drove a transaction's risk score, great for the live demo.</a:t>
            </a:r>
            <a:endParaRPr lang="en-US" sz="1250" dirty="0"/>
          </a:p>
        </p:txBody>
      </p:sp>
      <p:sp>
        <p:nvSpPr>
          <p:cNvPr id="22" name="Shape 20"/>
          <p:cNvSpPr/>
          <p:nvPr/>
        </p:nvSpPr>
        <p:spPr>
          <a:xfrm>
            <a:off x="548640" y="4946904"/>
            <a:ext cx="10881360" cy="877824"/>
          </a:xfrm>
          <a:prstGeom prst="roundRect">
            <a:avLst>
              <a:gd name="adj" fmla="val 8333"/>
            </a:avLst>
          </a:prstGeom>
          <a:solidFill>
            <a:srgbClr val="F2F8F8"/>
          </a:solidFill>
          <a:ln/>
        </p:spPr>
        <p:txBody>
          <a:bodyPr/>
          <a:lstStyle/>
          <a:p>
            <a:endParaRPr lang="en-US"/>
          </a:p>
        </p:txBody>
      </p:sp>
      <p:sp>
        <p:nvSpPr>
          <p:cNvPr id="23" name="Shape 21"/>
          <p:cNvSpPr/>
          <p:nvPr/>
        </p:nvSpPr>
        <p:spPr>
          <a:xfrm>
            <a:off x="777240" y="5065776"/>
            <a:ext cx="566928" cy="566928"/>
          </a:xfrm>
          <a:prstGeom prst="ellipse">
            <a:avLst/>
          </a:prstGeom>
          <a:solidFill>
            <a:srgbClr val="02C39A"/>
          </a:solidFill>
          <a:ln/>
          <a:effectLst>
            <a:outerShdw blurRad="76200" dist="25400" dir="5400000" algn="bl" rotWithShape="0">
              <a:srgbClr val="1B2B34">
                <a:alpha val="25000"/>
              </a:srgbClr>
            </a:outerShdw>
          </a:effectLst>
        </p:spPr>
        <p:txBody>
          <a:bodyPr/>
          <a:lstStyle/>
          <a:p>
            <a:endParaRPr lang="en-US"/>
          </a:p>
        </p:txBody>
      </p:sp>
      <p:sp>
        <p:nvSpPr>
          <p:cNvPr id="24" name="Text 22"/>
          <p:cNvSpPr/>
          <p:nvPr/>
        </p:nvSpPr>
        <p:spPr>
          <a:xfrm>
            <a:off x="777240" y="5065776"/>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5" name="Text 23"/>
          <p:cNvSpPr/>
          <p:nvPr/>
        </p:nvSpPr>
        <p:spPr>
          <a:xfrm>
            <a:off x="1600200" y="5001768"/>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Jupyter Notebook</a:t>
            </a:r>
            <a:endParaRPr lang="en-US" sz="1450" dirty="0"/>
          </a:p>
        </p:txBody>
      </p:sp>
      <p:sp>
        <p:nvSpPr>
          <p:cNvPr id="26" name="Text 24"/>
          <p:cNvSpPr/>
          <p:nvPr/>
        </p:nvSpPr>
        <p:spPr>
          <a:xfrm>
            <a:off x="4937760" y="5001768"/>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Recommended environment for iterating on features and model evaluation before scripting the pipeline.</a:t>
            </a:r>
            <a:endParaRPr lang="en-US" sz="1250" dirty="0"/>
          </a:p>
        </p:txBody>
      </p:sp>
      <p:sp>
        <p:nvSpPr>
          <p:cNvPr id="27" name="Text 25"/>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F5C5C"/>
                </a:solidFill>
                <a:latin typeface="Calibri" pitchFamily="34" charset="0"/>
                <a:ea typeface="Calibri" pitchFamily="34" charset="-122"/>
                <a:cs typeface="Calibri" pitchFamily="34" charset="-120"/>
              </a:rPr>
              <a:t>MODULE 4 OF 4</a:t>
            </a:r>
            <a:endParaRPr lang="en-US" sz="1300" dirty="0"/>
          </a:p>
        </p:txBody>
      </p:sp>
      <p:sp>
        <p:nvSpPr>
          <p:cNvPr id="3" name="Text 1"/>
          <p:cNvSpPr/>
          <p:nvPr/>
        </p:nvSpPr>
        <p:spPr>
          <a:xfrm>
            <a:off x="548640" y="621792"/>
            <a:ext cx="777240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Dashboard &amp; Integration</a:t>
            </a:r>
            <a:endParaRPr lang="en-US" sz="3200" dirty="0"/>
          </a:p>
        </p:txBody>
      </p:sp>
      <p:sp>
        <p:nvSpPr>
          <p:cNvPr id="4" name="Shape 2"/>
          <p:cNvSpPr/>
          <p:nvPr/>
        </p:nvSpPr>
        <p:spPr>
          <a:xfrm>
            <a:off x="10332720" y="502920"/>
            <a:ext cx="822960" cy="822960"/>
          </a:xfrm>
          <a:prstGeom prst="ellipse">
            <a:avLst/>
          </a:prstGeom>
          <a:solidFill>
            <a:srgbClr val="0F5C5C"/>
          </a:solidFill>
          <a:ln/>
          <a:effectLst>
            <a:outerShdw blurRad="76200" dist="25400" dir="5400000" algn="bl" rotWithShape="0">
              <a:srgbClr val="1B2B34">
                <a:alpha val="25000"/>
              </a:srgbClr>
            </a:outerShdw>
          </a:effectLst>
        </p:spPr>
        <p:txBody>
          <a:bodyPr/>
          <a:lstStyle/>
          <a:p>
            <a:endParaRPr lang="en-US"/>
          </a:p>
        </p:txBody>
      </p:sp>
      <p:sp>
        <p:nvSpPr>
          <p:cNvPr id="5" name="Text 3"/>
          <p:cNvSpPr/>
          <p:nvPr/>
        </p:nvSpPr>
        <p:spPr>
          <a:xfrm>
            <a:off x="10332720" y="50292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UI</a:t>
            </a:r>
            <a:endParaRPr lang="en-US" sz="1500" dirty="0"/>
          </a:p>
        </p:txBody>
      </p:sp>
      <p:sp>
        <p:nvSpPr>
          <p:cNvPr id="6" name="Text 4"/>
          <p:cNvSpPr/>
          <p:nvPr/>
        </p:nvSpPr>
        <p:spPr>
          <a:xfrm>
            <a:off x="548640" y="1234440"/>
            <a:ext cx="10515600" cy="411480"/>
          </a:xfrm>
          <a:prstGeom prst="rect">
            <a:avLst/>
          </a:prstGeom>
          <a:noFill/>
          <a:ln/>
        </p:spPr>
        <p:txBody>
          <a:bodyPr wrap="square" lIns="0" tIns="0" rIns="0" bIns="0"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Ties every layer together into a working demo an auditor or lender could actually use.</a:t>
            </a:r>
            <a:endParaRPr lang="en-US" sz="1400" dirty="0"/>
          </a:p>
        </p:txBody>
      </p:sp>
      <p:sp>
        <p:nvSpPr>
          <p:cNvPr id="7" name="Shape 5"/>
          <p:cNvSpPr/>
          <p:nvPr/>
        </p:nvSpPr>
        <p:spPr>
          <a:xfrm>
            <a:off x="548640" y="1874520"/>
            <a:ext cx="10881360" cy="877824"/>
          </a:xfrm>
          <a:prstGeom prst="roundRect">
            <a:avLst>
              <a:gd name="adj" fmla="val 8333"/>
            </a:avLst>
          </a:prstGeom>
          <a:solidFill>
            <a:srgbClr val="F2F8F8"/>
          </a:solidFill>
          <a:ln/>
        </p:spPr>
        <p:txBody>
          <a:bodyPr/>
          <a:lstStyle/>
          <a:p>
            <a:endParaRPr lang="en-US"/>
          </a:p>
        </p:txBody>
      </p:sp>
      <p:sp>
        <p:nvSpPr>
          <p:cNvPr id="8" name="Shape 6"/>
          <p:cNvSpPr/>
          <p:nvPr/>
        </p:nvSpPr>
        <p:spPr>
          <a:xfrm>
            <a:off x="777240" y="1993392"/>
            <a:ext cx="566928" cy="566928"/>
          </a:xfrm>
          <a:prstGeom prst="ellipse">
            <a:avLst/>
          </a:prstGeom>
          <a:solidFill>
            <a:srgbClr val="0F5C5C"/>
          </a:solidFill>
          <a:ln/>
          <a:effectLst>
            <a:outerShdw blurRad="76200" dist="25400" dir="5400000" algn="bl" rotWithShape="0">
              <a:srgbClr val="1B2B34">
                <a:alpha val="25000"/>
              </a:srgbClr>
            </a:outerShdw>
          </a:effectLst>
        </p:spPr>
        <p:txBody>
          <a:bodyPr/>
          <a:lstStyle/>
          <a:p>
            <a:endParaRPr lang="en-US"/>
          </a:p>
        </p:txBody>
      </p:sp>
      <p:sp>
        <p:nvSpPr>
          <p:cNvPr id="9" name="Text 7"/>
          <p:cNvSpPr/>
          <p:nvPr/>
        </p:nvSpPr>
        <p:spPr>
          <a:xfrm>
            <a:off x="777240" y="199339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0" name="Text 8"/>
          <p:cNvSpPr/>
          <p:nvPr/>
        </p:nvSpPr>
        <p:spPr>
          <a:xfrm>
            <a:off x="1600200" y="1929384"/>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Streamlit</a:t>
            </a:r>
            <a:endParaRPr lang="en-US" sz="1450" dirty="0"/>
          </a:p>
        </p:txBody>
      </p:sp>
      <p:sp>
        <p:nvSpPr>
          <p:cNvPr id="11" name="Text 9"/>
          <p:cNvSpPr/>
          <p:nvPr/>
        </p:nvSpPr>
        <p:spPr>
          <a:xfrm>
            <a:off x="4937760" y="1929384"/>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Fastest path to a working dashboard — table view, flagged-transactions view, and per-invoice audit trail.</a:t>
            </a:r>
            <a:endParaRPr lang="en-US" sz="1250" dirty="0"/>
          </a:p>
        </p:txBody>
      </p:sp>
      <p:sp>
        <p:nvSpPr>
          <p:cNvPr id="12" name="Shape 10"/>
          <p:cNvSpPr/>
          <p:nvPr/>
        </p:nvSpPr>
        <p:spPr>
          <a:xfrm>
            <a:off x="548640" y="2898648"/>
            <a:ext cx="10881360" cy="877824"/>
          </a:xfrm>
          <a:prstGeom prst="roundRect">
            <a:avLst>
              <a:gd name="adj" fmla="val 8333"/>
            </a:avLst>
          </a:prstGeom>
          <a:solidFill>
            <a:srgbClr val="F2F8F8"/>
          </a:solidFill>
          <a:ln/>
        </p:spPr>
        <p:txBody>
          <a:bodyPr/>
          <a:lstStyle/>
          <a:p>
            <a:endParaRPr lang="en-US"/>
          </a:p>
        </p:txBody>
      </p:sp>
      <p:sp>
        <p:nvSpPr>
          <p:cNvPr id="13" name="Shape 11"/>
          <p:cNvSpPr/>
          <p:nvPr/>
        </p:nvSpPr>
        <p:spPr>
          <a:xfrm>
            <a:off x="777240" y="3017520"/>
            <a:ext cx="566928" cy="566928"/>
          </a:xfrm>
          <a:prstGeom prst="ellipse">
            <a:avLst/>
          </a:prstGeom>
          <a:solidFill>
            <a:srgbClr val="0F5C5C"/>
          </a:solidFill>
          <a:ln/>
          <a:effectLst>
            <a:outerShdw blurRad="76200" dist="25400" dir="5400000" algn="bl" rotWithShape="0">
              <a:srgbClr val="1B2B34">
                <a:alpha val="25000"/>
              </a:srgbClr>
            </a:outerShdw>
          </a:effectLst>
        </p:spPr>
        <p:txBody>
          <a:bodyPr/>
          <a:lstStyle/>
          <a:p>
            <a:endParaRPr lang="en-US"/>
          </a:p>
        </p:txBody>
      </p:sp>
      <p:sp>
        <p:nvSpPr>
          <p:cNvPr id="14" name="Text 12"/>
          <p:cNvSpPr/>
          <p:nvPr/>
        </p:nvSpPr>
        <p:spPr>
          <a:xfrm>
            <a:off x="777240" y="3017520"/>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5" name="Text 13"/>
          <p:cNvSpPr/>
          <p:nvPr/>
        </p:nvSpPr>
        <p:spPr>
          <a:xfrm>
            <a:off x="1600200" y="2953512"/>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Flask (alternative)</a:t>
            </a:r>
            <a:endParaRPr lang="en-US" sz="1450" dirty="0"/>
          </a:p>
        </p:txBody>
      </p:sp>
      <p:sp>
        <p:nvSpPr>
          <p:cNvPr id="16" name="Text 14"/>
          <p:cNvSpPr/>
          <p:nvPr/>
        </p:nvSpPr>
        <p:spPr>
          <a:xfrm>
            <a:off x="4937760" y="2953512"/>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Use if your course requires a more customizable web framework instead of Streamlit.</a:t>
            </a:r>
            <a:endParaRPr lang="en-US" sz="1250" dirty="0"/>
          </a:p>
        </p:txBody>
      </p:sp>
      <p:sp>
        <p:nvSpPr>
          <p:cNvPr id="17" name="Shape 15"/>
          <p:cNvSpPr/>
          <p:nvPr/>
        </p:nvSpPr>
        <p:spPr>
          <a:xfrm>
            <a:off x="548640" y="3922776"/>
            <a:ext cx="10881360" cy="877824"/>
          </a:xfrm>
          <a:prstGeom prst="roundRect">
            <a:avLst>
              <a:gd name="adj" fmla="val 8333"/>
            </a:avLst>
          </a:prstGeom>
          <a:solidFill>
            <a:srgbClr val="F2F8F8"/>
          </a:solidFill>
          <a:ln/>
        </p:spPr>
        <p:txBody>
          <a:bodyPr/>
          <a:lstStyle/>
          <a:p>
            <a:endParaRPr lang="en-US"/>
          </a:p>
        </p:txBody>
      </p:sp>
      <p:sp>
        <p:nvSpPr>
          <p:cNvPr id="18" name="Shape 16"/>
          <p:cNvSpPr/>
          <p:nvPr/>
        </p:nvSpPr>
        <p:spPr>
          <a:xfrm>
            <a:off x="777240" y="4041648"/>
            <a:ext cx="566928" cy="566928"/>
          </a:xfrm>
          <a:prstGeom prst="ellipse">
            <a:avLst/>
          </a:prstGeom>
          <a:solidFill>
            <a:srgbClr val="0F5C5C"/>
          </a:solidFill>
          <a:ln/>
          <a:effectLst>
            <a:outerShdw blurRad="76200" dist="25400" dir="5400000" algn="bl" rotWithShape="0">
              <a:srgbClr val="1B2B34">
                <a:alpha val="25000"/>
              </a:srgbClr>
            </a:outerShdw>
          </a:effectLst>
        </p:spPr>
        <p:txBody>
          <a:bodyPr/>
          <a:lstStyle/>
          <a:p>
            <a:endParaRPr lang="en-US"/>
          </a:p>
        </p:txBody>
      </p:sp>
      <p:sp>
        <p:nvSpPr>
          <p:cNvPr id="19" name="Text 17"/>
          <p:cNvSpPr/>
          <p:nvPr/>
        </p:nvSpPr>
        <p:spPr>
          <a:xfrm>
            <a:off x="777240" y="4041648"/>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0" name="Text 18"/>
          <p:cNvSpPr/>
          <p:nvPr/>
        </p:nvSpPr>
        <p:spPr>
          <a:xfrm>
            <a:off x="1600200" y="3977640"/>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GitHub</a:t>
            </a:r>
            <a:endParaRPr lang="en-US" sz="1450" dirty="0"/>
          </a:p>
        </p:txBody>
      </p:sp>
      <p:sp>
        <p:nvSpPr>
          <p:cNvPr id="21" name="Text 19"/>
          <p:cNvSpPr/>
          <p:nvPr/>
        </p:nvSpPr>
        <p:spPr>
          <a:xfrm>
            <a:off x="4937760" y="3977640"/>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Shared repo for all components — organize by /contracts, /listener, /model, /dashboard.</a:t>
            </a:r>
            <a:endParaRPr lang="en-US" sz="1250" dirty="0"/>
          </a:p>
        </p:txBody>
      </p:sp>
      <p:sp>
        <p:nvSpPr>
          <p:cNvPr id="22" name="Shape 20"/>
          <p:cNvSpPr/>
          <p:nvPr/>
        </p:nvSpPr>
        <p:spPr>
          <a:xfrm>
            <a:off x="548640" y="4946904"/>
            <a:ext cx="10881360" cy="877824"/>
          </a:xfrm>
          <a:prstGeom prst="roundRect">
            <a:avLst>
              <a:gd name="adj" fmla="val 8333"/>
            </a:avLst>
          </a:prstGeom>
          <a:solidFill>
            <a:srgbClr val="F2F8F8"/>
          </a:solidFill>
          <a:ln/>
        </p:spPr>
        <p:txBody>
          <a:bodyPr/>
          <a:lstStyle/>
          <a:p>
            <a:endParaRPr lang="en-US"/>
          </a:p>
        </p:txBody>
      </p:sp>
      <p:sp>
        <p:nvSpPr>
          <p:cNvPr id="23" name="Shape 21"/>
          <p:cNvSpPr/>
          <p:nvPr/>
        </p:nvSpPr>
        <p:spPr>
          <a:xfrm>
            <a:off x="777240" y="5065776"/>
            <a:ext cx="566928" cy="566928"/>
          </a:xfrm>
          <a:prstGeom prst="ellipse">
            <a:avLst/>
          </a:prstGeom>
          <a:solidFill>
            <a:srgbClr val="0F5C5C"/>
          </a:solidFill>
          <a:ln/>
          <a:effectLst>
            <a:outerShdw blurRad="76200" dist="25400" dir="5400000" algn="bl" rotWithShape="0">
              <a:srgbClr val="1B2B34">
                <a:alpha val="25000"/>
              </a:srgbClr>
            </a:outerShdw>
          </a:effectLst>
        </p:spPr>
        <p:txBody>
          <a:bodyPr/>
          <a:lstStyle/>
          <a:p>
            <a:endParaRPr lang="en-US"/>
          </a:p>
        </p:txBody>
      </p:sp>
      <p:sp>
        <p:nvSpPr>
          <p:cNvPr id="24" name="Text 22"/>
          <p:cNvSpPr/>
          <p:nvPr/>
        </p:nvSpPr>
        <p:spPr>
          <a:xfrm>
            <a:off x="777240" y="5065776"/>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5" name="Text 23"/>
          <p:cNvSpPr/>
          <p:nvPr/>
        </p:nvSpPr>
        <p:spPr>
          <a:xfrm>
            <a:off x="1600200" y="5001768"/>
            <a:ext cx="3200400" cy="768096"/>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Streamlit Community Cloud</a:t>
            </a:r>
            <a:endParaRPr lang="en-US" sz="1450" dirty="0"/>
          </a:p>
        </p:txBody>
      </p:sp>
      <p:sp>
        <p:nvSpPr>
          <p:cNvPr id="26" name="Text 24"/>
          <p:cNvSpPr/>
          <p:nvPr/>
        </p:nvSpPr>
        <p:spPr>
          <a:xfrm>
            <a:off x="4937760" y="5001768"/>
            <a:ext cx="6309360" cy="768096"/>
          </a:xfrm>
          <a:prstGeom prst="rect">
            <a:avLst/>
          </a:prstGeom>
          <a:noFill/>
          <a:ln/>
        </p:spPr>
        <p:txBody>
          <a:bodyPr wrap="square" lIns="0" tIns="0" rIns="0" bIns="0" rtlCol="0" anchor="ctr"/>
          <a:lstStyle/>
          <a:p>
            <a:pPr marL="0" indent="0">
              <a:buNone/>
            </a:pPr>
            <a:r>
              <a:rPr lang="en-US" sz="1250" dirty="0">
                <a:solidFill>
                  <a:srgbClr val="5C6B73"/>
                </a:solidFill>
                <a:latin typeface="Calibri" pitchFamily="34" charset="0"/>
                <a:ea typeface="Calibri" pitchFamily="34" charset="-122"/>
                <a:cs typeface="Calibri" pitchFamily="34" charset="-120"/>
              </a:rPr>
              <a:t>Free deployment option so the dashboard is demoable from a link, not just localhost.</a:t>
            </a:r>
            <a:endParaRPr lang="en-US" sz="1250" dirty="0"/>
          </a:p>
        </p:txBody>
      </p:sp>
      <p:sp>
        <p:nvSpPr>
          <p:cNvPr id="27" name="Text 25"/>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REFERENCE</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Full Tool Stack at a Glance</a:t>
            </a:r>
            <a:endParaRPr lang="en-US" sz="3200" dirty="0"/>
          </a:p>
        </p:txBody>
      </p:sp>
      <p:sp>
        <p:nvSpPr>
          <p:cNvPr id="4" name="Shape 2"/>
          <p:cNvSpPr/>
          <p:nvPr/>
        </p:nvSpPr>
        <p:spPr>
          <a:xfrm>
            <a:off x="548640" y="1828800"/>
            <a:ext cx="2194560" cy="777240"/>
          </a:xfrm>
          <a:prstGeom prst="rect">
            <a:avLst/>
          </a:prstGeom>
          <a:solidFill>
            <a:srgbClr val="028090"/>
          </a:solidFill>
          <a:ln w="9525">
            <a:solidFill>
              <a:srgbClr val="E1E8E8"/>
            </a:solidFill>
            <a:prstDash val="solid"/>
          </a:ln>
        </p:spPr>
        <p:txBody>
          <a:bodyPr/>
          <a:lstStyle/>
          <a:p>
            <a:endParaRPr lang="en-US"/>
          </a:p>
        </p:txBody>
      </p:sp>
      <p:sp>
        <p:nvSpPr>
          <p:cNvPr id="5" name="Text 3"/>
          <p:cNvSpPr/>
          <p:nvPr/>
        </p:nvSpPr>
        <p:spPr>
          <a:xfrm>
            <a:off x="658368" y="1828800"/>
            <a:ext cx="1975104"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Module</a:t>
            </a:r>
            <a:endParaRPr lang="en-US" sz="1300" dirty="0"/>
          </a:p>
        </p:txBody>
      </p:sp>
      <p:sp>
        <p:nvSpPr>
          <p:cNvPr id="6" name="Shape 4"/>
          <p:cNvSpPr/>
          <p:nvPr/>
        </p:nvSpPr>
        <p:spPr>
          <a:xfrm>
            <a:off x="2743200" y="1828800"/>
            <a:ext cx="4572000" cy="777240"/>
          </a:xfrm>
          <a:prstGeom prst="rect">
            <a:avLst/>
          </a:prstGeom>
          <a:solidFill>
            <a:srgbClr val="028090"/>
          </a:solidFill>
          <a:ln w="9525">
            <a:solidFill>
              <a:srgbClr val="E1E8E8"/>
            </a:solidFill>
            <a:prstDash val="solid"/>
          </a:ln>
        </p:spPr>
        <p:txBody>
          <a:bodyPr/>
          <a:lstStyle/>
          <a:p>
            <a:endParaRPr lang="en-US"/>
          </a:p>
        </p:txBody>
      </p:sp>
      <p:sp>
        <p:nvSpPr>
          <p:cNvPr id="7" name="Text 5"/>
          <p:cNvSpPr/>
          <p:nvPr/>
        </p:nvSpPr>
        <p:spPr>
          <a:xfrm>
            <a:off x="2852928" y="1828800"/>
            <a:ext cx="4352544"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Core Tools</a:t>
            </a:r>
            <a:endParaRPr lang="en-US" sz="1300" dirty="0"/>
          </a:p>
        </p:txBody>
      </p:sp>
      <p:sp>
        <p:nvSpPr>
          <p:cNvPr id="8" name="Shape 6"/>
          <p:cNvSpPr/>
          <p:nvPr/>
        </p:nvSpPr>
        <p:spPr>
          <a:xfrm>
            <a:off x="7315200" y="1828800"/>
            <a:ext cx="4114800" cy="777240"/>
          </a:xfrm>
          <a:prstGeom prst="rect">
            <a:avLst/>
          </a:prstGeom>
          <a:solidFill>
            <a:srgbClr val="028090"/>
          </a:solidFill>
          <a:ln w="9525">
            <a:solidFill>
              <a:srgbClr val="E1E8E8"/>
            </a:solidFill>
            <a:prstDash val="solid"/>
          </a:ln>
        </p:spPr>
        <p:txBody>
          <a:bodyPr/>
          <a:lstStyle/>
          <a:p>
            <a:endParaRPr lang="en-US"/>
          </a:p>
        </p:txBody>
      </p:sp>
      <p:sp>
        <p:nvSpPr>
          <p:cNvPr id="9" name="Text 7"/>
          <p:cNvSpPr/>
          <p:nvPr/>
        </p:nvSpPr>
        <p:spPr>
          <a:xfrm>
            <a:off x="7424928" y="1828800"/>
            <a:ext cx="3895344"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Role</a:t>
            </a:r>
            <a:endParaRPr lang="en-US" sz="1300" dirty="0"/>
          </a:p>
        </p:txBody>
      </p:sp>
      <p:sp>
        <p:nvSpPr>
          <p:cNvPr id="10" name="Shape 8"/>
          <p:cNvSpPr/>
          <p:nvPr/>
        </p:nvSpPr>
        <p:spPr>
          <a:xfrm>
            <a:off x="548640" y="2606040"/>
            <a:ext cx="2194560" cy="777240"/>
          </a:xfrm>
          <a:prstGeom prst="rect">
            <a:avLst/>
          </a:prstGeom>
          <a:solidFill>
            <a:srgbClr val="F2F8F8"/>
          </a:solidFill>
          <a:ln w="9525">
            <a:solidFill>
              <a:srgbClr val="E1E8E8"/>
            </a:solidFill>
            <a:prstDash val="solid"/>
          </a:ln>
        </p:spPr>
        <p:txBody>
          <a:bodyPr/>
          <a:lstStyle/>
          <a:p>
            <a:endParaRPr lang="en-US"/>
          </a:p>
        </p:txBody>
      </p:sp>
      <p:sp>
        <p:nvSpPr>
          <p:cNvPr id="11" name="Text 9"/>
          <p:cNvSpPr/>
          <p:nvPr/>
        </p:nvSpPr>
        <p:spPr>
          <a:xfrm>
            <a:off x="658368" y="2606040"/>
            <a:ext cx="1975104" cy="77724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Blockchain</a:t>
            </a:r>
            <a:endParaRPr lang="en-US" sz="1200" dirty="0"/>
          </a:p>
        </p:txBody>
      </p:sp>
      <p:sp>
        <p:nvSpPr>
          <p:cNvPr id="12" name="Shape 10"/>
          <p:cNvSpPr/>
          <p:nvPr/>
        </p:nvSpPr>
        <p:spPr>
          <a:xfrm>
            <a:off x="2743200" y="2606040"/>
            <a:ext cx="4572000" cy="777240"/>
          </a:xfrm>
          <a:prstGeom prst="rect">
            <a:avLst/>
          </a:prstGeom>
          <a:solidFill>
            <a:srgbClr val="F2F8F8"/>
          </a:solidFill>
          <a:ln w="9525">
            <a:solidFill>
              <a:srgbClr val="E1E8E8"/>
            </a:solidFill>
            <a:prstDash val="solid"/>
          </a:ln>
        </p:spPr>
        <p:txBody>
          <a:bodyPr/>
          <a:lstStyle/>
          <a:p>
            <a:endParaRPr lang="en-US"/>
          </a:p>
        </p:txBody>
      </p:sp>
      <p:sp>
        <p:nvSpPr>
          <p:cNvPr id="13" name="Text 11"/>
          <p:cNvSpPr/>
          <p:nvPr/>
        </p:nvSpPr>
        <p:spPr>
          <a:xfrm>
            <a:off x="2852928" y="2606040"/>
            <a:ext cx="43525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Solidity, Hardhat, Remix, MetaMask, Sepolia</a:t>
            </a:r>
            <a:endParaRPr lang="en-US" sz="1200" dirty="0"/>
          </a:p>
        </p:txBody>
      </p:sp>
      <p:sp>
        <p:nvSpPr>
          <p:cNvPr id="14" name="Shape 12"/>
          <p:cNvSpPr/>
          <p:nvPr/>
        </p:nvSpPr>
        <p:spPr>
          <a:xfrm>
            <a:off x="7315200" y="2606040"/>
            <a:ext cx="4114800" cy="777240"/>
          </a:xfrm>
          <a:prstGeom prst="rect">
            <a:avLst/>
          </a:prstGeom>
          <a:solidFill>
            <a:srgbClr val="F2F8F8"/>
          </a:solidFill>
          <a:ln w="9525">
            <a:solidFill>
              <a:srgbClr val="E1E8E8"/>
            </a:solidFill>
            <a:prstDash val="solid"/>
          </a:ln>
        </p:spPr>
        <p:txBody>
          <a:bodyPr/>
          <a:lstStyle/>
          <a:p>
            <a:endParaRPr lang="en-US"/>
          </a:p>
        </p:txBody>
      </p:sp>
      <p:sp>
        <p:nvSpPr>
          <p:cNvPr id="15" name="Text 13"/>
          <p:cNvSpPr/>
          <p:nvPr/>
        </p:nvSpPr>
        <p:spPr>
          <a:xfrm>
            <a:off x="7424928" y="2606040"/>
            <a:ext cx="38953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Immutable event log of invoices, shipments, payments</a:t>
            </a:r>
            <a:endParaRPr lang="en-US" sz="1200" dirty="0"/>
          </a:p>
        </p:txBody>
      </p:sp>
      <p:sp>
        <p:nvSpPr>
          <p:cNvPr id="16" name="Shape 14"/>
          <p:cNvSpPr/>
          <p:nvPr/>
        </p:nvSpPr>
        <p:spPr>
          <a:xfrm>
            <a:off x="548640" y="3383280"/>
            <a:ext cx="2194560" cy="777240"/>
          </a:xfrm>
          <a:prstGeom prst="rect">
            <a:avLst/>
          </a:prstGeom>
          <a:solidFill>
            <a:srgbClr val="F2F8F8"/>
          </a:solidFill>
          <a:ln w="9525">
            <a:solidFill>
              <a:srgbClr val="E1E8E8"/>
            </a:solidFill>
            <a:prstDash val="solid"/>
          </a:ln>
        </p:spPr>
        <p:txBody>
          <a:bodyPr/>
          <a:lstStyle/>
          <a:p>
            <a:endParaRPr lang="en-US"/>
          </a:p>
        </p:txBody>
      </p:sp>
      <p:sp>
        <p:nvSpPr>
          <p:cNvPr id="17" name="Text 15"/>
          <p:cNvSpPr/>
          <p:nvPr/>
        </p:nvSpPr>
        <p:spPr>
          <a:xfrm>
            <a:off x="658368" y="3383280"/>
            <a:ext cx="1975104" cy="77724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SQL / Data</a:t>
            </a:r>
            <a:endParaRPr lang="en-US" sz="1200" dirty="0"/>
          </a:p>
        </p:txBody>
      </p:sp>
      <p:sp>
        <p:nvSpPr>
          <p:cNvPr id="18" name="Shape 16"/>
          <p:cNvSpPr/>
          <p:nvPr/>
        </p:nvSpPr>
        <p:spPr>
          <a:xfrm>
            <a:off x="2743200" y="3383280"/>
            <a:ext cx="4572000" cy="777240"/>
          </a:xfrm>
          <a:prstGeom prst="rect">
            <a:avLst/>
          </a:prstGeom>
          <a:solidFill>
            <a:srgbClr val="FFFFFF"/>
          </a:solidFill>
          <a:ln w="9525">
            <a:solidFill>
              <a:srgbClr val="E1E8E8"/>
            </a:solidFill>
            <a:prstDash val="solid"/>
          </a:ln>
        </p:spPr>
        <p:txBody>
          <a:bodyPr/>
          <a:lstStyle/>
          <a:p>
            <a:endParaRPr lang="en-US"/>
          </a:p>
        </p:txBody>
      </p:sp>
      <p:sp>
        <p:nvSpPr>
          <p:cNvPr id="19" name="Text 17"/>
          <p:cNvSpPr/>
          <p:nvPr/>
        </p:nvSpPr>
        <p:spPr>
          <a:xfrm>
            <a:off x="2852928" y="3383280"/>
            <a:ext cx="43525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PostgreSQL, web3.py, pgAdmin/DBeaver</a:t>
            </a:r>
            <a:endParaRPr lang="en-US" sz="1200" dirty="0"/>
          </a:p>
        </p:txBody>
      </p:sp>
      <p:sp>
        <p:nvSpPr>
          <p:cNvPr id="20" name="Shape 18"/>
          <p:cNvSpPr/>
          <p:nvPr/>
        </p:nvSpPr>
        <p:spPr>
          <a:xfrm>
            <a:off x="7315200" y="3383280"/>
            <a:ext cx="4114800" cy="777240"/>
          </a:xfrm>
          <a:prstGeom prst="rect">
            <a:avLst/>
          </a:prstGeom>
          <a:solidFill>
            <a:srgbClr val="FFFFFF"/>
          </a:solidFill>
          <a:ln w="9525">
            <a:solidFill>
              <a:srgbClr val="E1E8E8"/>
            </a:solidFill>
            <a:prstDash val="solid"/>
          </a:ln>
        </p:spPr>
        <p:txBody>
          <a:bodyPr/>
          <a:lstStyle/>
          <a:p>
            <a:endParaRPr lang="en-US"/>
          </a:p>
        </p:txBody>
      </p:sp>
      <p:sp>
        <p:nvSpPr>
          <p:cNvPr id="21" name="Text 19"/>
          <p:cNvSpPr/>
          <p:nvPr/>
        </p:nvSpPr>
        <p:spPr>
          <a:xfrm>
            <a:off x="7424928" y="3383280"/>
            <a:ext cx="38953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Structured storage, queries, and model training data</a:t>
            </a:r>
            <a:endParaRPr lang="en-US" sz="1200" dirty="0"/>
          </a:p>
        </p:txBody>
      </p:sp>
      <p:sp>
        <p:nvSpPr>
          <p:cNvPr id="22" name="Shape 20"/>
          <p:cNvSpPr/>
          <p:nvPr/>
        </p:nvSpPr>
        <p:spPr>
          <a:xfrm>
            <a:off x="548640" y="4160520"/>
            <a:ext cx="2194560" cy="777240"/>
          </a:xfrm>
          <a:prstGeom prst="rect">
            <a:avLst/>
          </a:prstGeom>
          <a:solidFill>
            <a:srgbClr val="F2F8F8"/>
          </a:solidFill>
          <a:ln w="9525">
            <a:solidFill>
              <a:srgbClr val="E1E8E8"/>
            </a:solidFill>
            <a:prstDash val="solid"/>
          </a:ln>
        </p:spPr>
        <p:txBody>
          <a:bodyPr/>
          <a:lstStyle/>
          <a:p>
            <a:endParaRPr lang="en-US"/>
          </a:p>
        </p:txBody>
      </p:sp>
      <p:sp>
        <p:nvSpPr>
          <p:cNvPr id="23" name="Text 21"/>
          <p:cNvSpPr/>
          <p:nvPr/>
        </p:nvSpPr>
        <p:spPr>
          <a:xfrm>
            <a:off x="658368" y="4160520"/>
            <a:ext cx="1975104" cy="77724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AI / ML</a:t>
            </a:r>
            <a:endParaRPr lang="en-US" sz="1200" dirty="0"/>
          </a:p>
        </p:txBody>
      </p:sp>
      <p:sp>
        <p:nvSpPr>
          <p:cNvPr id="24" name="Shape 22"/>
          <p:cNvSpPr/>
          <p:nvPr/>
        </p:nvSpPr>
        <p:spPr>
          <a:xfrm>
            <a:off x="2743200" y="4160520"/>
            <a:ext cx="4572000" cy="777240"/>
          </a:xfrm>
          <a:prstGeom prst="rect">
            <a:avLst/>
          </a:prstGeom>
          <a:solidFill>
            <a:srgbClr val="F2F8F8"/>
          </a:solidFill>
          <a:ln w="9525">
            <a:solidFill>
              <a:srgbClr val="E1E8E8"/>
            </a:solidFill>
            <a:prstDash val="solid"/>
          </a:ln>
        </p:spPr>
        <p:txBody>
          <a:bodyPr/>
          <a:lstStyle/>
          <a:p>
            <a:endParaRPr lang="en-US"/>
          </a:p>
        </p:txBody>
      </p:sp>
      <p:sp>
        <p:nvSpPr>
          <p:cNvPr id="25" name="Text 23"/>
          <p:cNvSpPr/>
          <p:nvPr/>
        </p:nvSpPr>
        <p:spPr>
          <a:xfrm>
            <a:off x="2852928" y="4160520"/>
            <a:ext cx="43525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Python, pandas, scikit-learn, XGBoost, SHAP</a:t>
            </a:r>
            <a:endParaRPr lang="en-US" sz="1200" dirty="0"/>
          </a:p>
        </p:txBody>
      </p:sp>
      <p:sp>
        <p:nvSpPr>
          <p:cNvPr id="26" name="Shape 24"/>
          <p:cNvSpPr/>
          <p:nvPr/>
        </p:nvSpPr>
        <p:spPr>
          <a:xfrm>
            <a:off x="7315200" y="4160520"/>
            <a:ext cx="4114800" cy="777240"/>
          </a:xfrm>
          <a:prstGeom prst="rect">
            <a:avLst/>
          </a:prstGeom>
          <a:solidFill>
            <a:srgbClr val="F2F8F8"/>
          </a:solidFill>
          <a:ln w="9525">
            <a:solidFill>
              <a:srgbClr val="E1E8E8"/>
            </a:solidFill>
            <a:prstDash val="solid"/>
          </a:ln>
        </p:spPr>
        <p:txBody>
          <a:bodyPr/>
          <a:lstStyle/>
          <a:p>
            <a:endParaRPr lang="en-US"/>
          </a:p>
        </p:txBody>
      </p:sp>
      <p:sp>
        <p:nvSpPr>
          <p:cNvPr id="27" name="Text 25"/>
          <p:cNvSpPr/>
          <p:nvPr/>
        </p:nvSpPr>
        <p:spPr>
          <a:xfrm>
            <a:off x="7424928" y="4160520"/>
            <a:ext cx="38953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Fraud/risk scoring with explainability</a:t>
            </a:r>
            <a:endParaRPr lang="en-US" sz="1200" dirty="0"/>
          </a:p>
        </p:txBody>
      </p:sp>
      <p:sp>
        <p:nvSpPr>
          <p:cNvPr id="28" name="Shape 26"/>
          <p:cNvSpPr/>
          <p:nvPr/>
        </p:nvSpPr>
        <p:spPr>
          <a:xfrm>
            <a:off x="548640" y="4937760"/>
            <a:ext cx="2194560" cy="777240"/>
          </a:xfrm>
          <a:prstGeom prst="rect">
            <a:avLst/>
          </a:prstGeom>
          <a:solidFill>
            <a:srgbClr val="F2F8F8"/>
          </a:solidFill>
          <a:ln w="9525">
            <a:solidFill>
              <a:srgbClr val="E1E8E8"/>
            </a:solidFill>
            <a:prstDash val="solid"/>
          </a:ln>
        </p:spPr>
        <p:txBody>
          <a:bodyPr/>
          <a:lstStyle/>
          <a:p>
            <a:endParaRPr lang="en-US"/>
          </a:p>
        </p:txBody>
      </p:sp>
      <p:sp>
        <p:nvSpPr>
          <p:cNvPr id="29" name="Text 27"/>
          <p:cNvSpPr/>
          <p:nvPr/>
        </p:nvSpPr>
        <p:spPr>
          <a:xfrm>
            <a:off x="658368" y="4937760"/>
            <a:ext cx="1975104" cy="777240"/>
          </a:xfrm>
          <a:prstGeom prst="rect">
            <a:avLst/>
          </a:prstGeom>
          <a:noFill/>
          <a:ln/>
        </p:spPr>
        <p:txBody>
          <a:bodyPr wrap="square" lIns="0" tIns="0" rIns="0" bIns="0" rtlCol="0" anchor="ctr"/>
          <a:lstStyle/>
          <a:p>
            <a:pPr marL="0" indent="0">
              <a:buNone/>
            </a:pPr>
            <a:r>
              <a:rPr lang="en-US" sz="1200" b="1" dirty="0">
                <a:solidFill>
                  <a:srgbClr val="1B2B34"/>
                </a:solidFill>
                <a:latin typeface="Calibri" pitchFamily="34" charset="0"/>
                <a:ea typeface="Calibri" pitchFamily="34" charset="-122"/>
                <a:cs typeface="Calibri" pitchFamily="34" charset="-120"/>
              </a:rPr>
              <a:t>Dashboard</a:t>
            </a:r>
            <a:endParaRPr lang="en-US" sz="1200" dirty="0"/>
          </a:p>
        </p:txBody>
      </p:sp>
      <p:sp>
        <p:nvSpPr>
          <p:cNvPr id="30" name="Shape 28"/>
          <p:cNvSpPr/>
          <p:nvPr/>
        </p:nvSpPr>
        <p:spPr>
          <a:xfrm>
            <a:off x="2743200" y="4937760"/>
            <a:ext cx="4572000" cy="777240"/>
          </a:xfrm>
          <a:prstGeom prst="rect">
            <a:avLst/>
          </a:prstGeom>
          <a:solidFill>
            <a:srgbClr val="FFFFFF"/>
          </a:solidFill>
          <a:ln w="9525">
            <a:solidFill>
              <a:srgbClr val="E1E8E8"/>
            </a:solidFill>
            <a:prstDash val="solid"/>
          </a:ln>
        </p:spPr>
        <p:txBody>
          <a:bodyPr/>
          <a:lstStyle/>
          <a:p>
            <a:endParaRPr lang="en-US"/>
          </a:p>
        </p:txBody>
      </p:sp>
      <p:sp>
        <p:nvSpPr>
          <p:cNvPr id="31" name="Text 29"/>
          <p:cNvSpPr/>
          <p:nvPr/>
        </p:nvSpPr>
        <p:spPr>
          <a:xfrm>
            <a:off x="2852928" y="4937760"/>
            <a:ext cx="43525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Streamlit, GitHub</a:t>
            </a:r>
            <a:endParaRPr lang="en-US" sz="1200" dirty="0"/>
          </a:p>
        </p:txBody>
      </p:sp>
      <p:sp>
        <p:nvSpPr>
          <p:cNvPr id="32" name="Shape 30"/>
          <p:cNvSpPr/>
          <p:nvPr/>
        </p:nvSpPr>
        <p:spPr>
          <a:xfrm>
            <a:off x="7315200" y="4937760"/>
            <a:ext cx="4114800" cy="777240"/>
          </a:xfrm>
          <a:prstGeom prst="rect">
            <a:avLst/>
          </a:prstGeom>
          <a:solidFill>
            <a:srgbClr val="FFFFFF"/>
          </a:solidFill>
          <a:ln w="9525">
            <a:solidFill>
              <a:srgbClr val="E1E8E8"/>
            </a:solidFill>
            <a:prstDash val="solid"/>
          </a:ln>
        </p:spPr>
        <p:txBody>
          <a:bodyPr/>
          <a:lstStyle/>
          <a:p>
            <a:endParaRPr lang="en-US"/>
          </a:p>
        </p:txBody>
      </p:sp>
      <p:sp>
        <p:nvSpPr>
          <p:cNvPr id="33" name="Text 31"/>
          <p:cNvSpPr/>
          <p:nvPr/>
        </p:nvSpPr>
        <p:spPr>
          <a:xfrm>
            <a:off x="7424928" y="4937760"/>
            <a:ext cx="3895344" cy="777240"/>
          </a:xfrm>
          <a:prstGeom prst="rect">
            <a:avLst/>
          </a:prstGeom>
          <a:noFill/>
          <a:ln/>
        </p:spPr>
        <p:txBody>
          <a:bodyPr wrap="square" lIns="0" tIns="0" rIns="0" bIns="0" rtlCol="0" anchor="ctr"/>
          <a:lstStyle/>
          <a:p>
            <a:pPr marL="0" indent="0">
              <a:buNone/>
            </a:pPr>
            <a:r>
              <a:rPr lang="en-US" sz="1200" dirty="0">
                <a:solidFill>
                  <a:srgbClr val="1B2B34"/>
                </a:solidFill>
                <a:latin typeface="Calibri" pitchFamily="34" charset="0"/>
                <a:ea typeface="Calibri" pitchFamily="34" charset="-122"/>
                <a:cs typeface="Calibri" pitchFamily="34" charset="-120"/>
              </a:rPr>
              <a:t>Unified view of transactions, risk scores, audit trail</a:t>
            </a:r>
            <a:endParaRPr lang="en-US" sz="1200" dirty="0"/>
          </a:p>
        </p:txBody>
      </p:sp>
      <p:sp>
        <p:nvSpPr>
          <p:cNvPr id="34" name="Text 32"/>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SCHEDULE</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Project Timeline</a:t>
            </a:r>
            <a:endParaRPr lang="en-US" sz="3200" dirty="0"/>
          </a:p>
        </p:txBody>
      </p:sp>
      <p:sp>
        <p:nvSpPr>
          <p:cNvPr id="4" name="Shape 2"/>
          <p:cNvSpPr/>
          <p:nvPr/>
        </p:nvSpPr>
        <p:spPr>
          <a:xfrm>
            <a:off x="646024" y="1965960"/>
            <a:ext cx="1463040" cy="502920"/>
          </a:xfrm>
          <a:prstGeom prst="roundRect">
            <a:avLst>
              <a:gd name="adj" fmla="val 14545"/>
            </a:avLst>
          </a:prstGeom>
          <a:solidFill>
            <a:srgbClr val="028090"/>
          </a:solidFill>
          <a:ln/>
        </p:spPr>
        <p:txBody>
          <a:bodyPr/>
          <a:lstStyle/>
          <a:p>
            <a:endParaRPr lang="en-US"/>
          </a:p>
        </p:txBody>
      </p:sp>
      <p:sp>
        <p:nvSpPr>
          <p:cNvPr id="5" name="Text 3"/>
          <p:cNvSpPr/>
          <p:nvPr/>
        </p:nvSpPr>
        <p:spPr>
          <a:xfrm>
            <a:off x="646024"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Days 1–2</a:t>
            </a:r>
            <a:endParaRPr lang="en-US" sz="1200" dirty="0"/>
          </a:p>
        </p:txBody>
      </p:sp>
      <p:sp>
        <p:nvSpPr>
          <p:cNvPr id="6" name="Shape 4"/>
          <p:cNvSpPr/>
          <p:nvPr/>
        </p:nvSpPr>
        <p:spPr>
          <a:xfrm>
            <a:off x="646024" y="2587752"/>
            <a:ext cx="1463040" cy="3108960"/>
          </a:xfrm>
          <a:prstGeom prst="roundRect">
            <a:avLst>
              <a:gd name="adj" fmla="val 5000"/>
            </a:avLst>
          </a:prstGeom>
          <a:solidFill>
            <a:srgbClr val="F2F8F8"/>
          </a:solidFill>
          <a:ln w="12700">
            <a:solidFill>
              <a:srgbClr val="028090"/>
            </a:solidFill>
            <a:prstDash val="solid"/>
          </a:ln>
        </p:spPr>
        <p:txBody>
          <a:bodyPr/>
          <a:lstStyle/>
          <a:p>
            <a:endParaRPr lang="en-US"/>
          </a:p>
        </p:txBody>
      </p:sp>
      <p:sp>
        <p:nvSpPr>
          <p:cNvPr id="7" name="Text 5"/>
          <p:cNvSpPr/>
          <p:nvPr/>
        </p:nvSpPr>
        <p:spPr>
          <a:xfrm>
            <a:off x="719176"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Scope &amp; Schema</a:t>
            </a:r>
            <a:endParaRPr lang="en-US" sz="1150" dirty="0"/>
          </a:p>
        </p:txBody>
      </p:sp>
      <p:sp>
        <p:nvSpPr>
          <p:cNvPr id="8" name="Text 6"/>
          <p:cNvSpPr/>
          <p:nvPr/>
        </p:nvSpPr>
        <p:spPr>
          <a:xfrm>
            <a:off x="719176"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Finalize scenarios, design SQL schema, define contract events</a:t>
            </a:r>
            <a:endParaRPr lang="en-US" sz="950" dirty="0"/>
          </a:p>
        </p:txBody>
      </p:sp>
      <p:sp>
        <p:nvSpPr>
          <p:cNvPr id="9" name="Shape 7"/>
          <p:cNvSpPr/>
          <p:nvPr/>
        </p:nvSpPr>
        <p:spPr>
          <a:xfrm>
            <a:off x="2218792" y="1965960"/>
            <a:ext cx="1463040" cy="502920"/>
          </a:xfrm>
          <a:prstGeom prst="roundRect">
            <a:avLst>
              <a:gd name="adj" fmla="val 14545"/>
            </a:avLst>
          </a:prstGeom>
          <a:solidFill>
            <a:srgbClr val="028090"/>
          </a:solidFill>
          <a:ln/>
        </p:spPr>
        <p:txBody>
          <a:bodyPr/>
          <a:lstStyle/>
          <a:p>
            <a:endParaRPr lang="en-US"/>
          </a:p>
        </p:txBody>
      </p:sp>
      <p:sp>
        <p:nvSpPr>
          <p:cNvPr id="10" name="Text 8"/>
          <p:cNvSpPr/>
          <p:nvPr/>
        </p:nvSpPr>
        <p:spPr>
          <a:xfrm>
            <a:off x="2218792"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3–4</a:t>
            </a:r>
            <a:endParaRPr lang="en-US" sz="1200" dirty="0"/>
          </a:p>
        </p:txBody>
      </p:sp>
      <p:sp>
        <p:nvSpPr>
          <p:cNvPr id="11" name="Shape 9"/>
          <p:cNvSpPr/>
          <p:nvPr/>
        </p:nvSpPr>
        <p:spPr>
          <a:xfrm>
            <a:off x="2218792" y="2587752"/>
            <a:ext cx="1463040" cy="3108960"/>
          </a:xfrm>
          <a:prstGeom prst="roundRect">
            <a:avLst>
              <a:gd name="adj" fmla="val 5000"/>
            </a:avLst>
          </a:prstGeom>
          <a:solidFill>
            <a:srgbClr val="F2F8F8"/>
          </a:solidFill>
          <a:ln w="12700">
            <a:solidFill>
              <a:srgbClr val="028090"/>
            </a:solidFill>
            <a:prstDash val="solid"/>
          </a:ln>
        </p:spPr>
        <p:txBody>
          <a:bodyPr/>
          <a:lstStyle/>
          <a:p>
            <a:endParaRPr lang="en-US"/>
          </a:p>
        </p:txBody>
      </p:sp>
      <p:sp>
        <p:nvSpPr>
          <p:cNvPr id="12" name="Text 10"/>
          <p:cNvSpPr/>
          <p:nvPr/>
        </p:nvSpPr>
        <p:spPr>
          <a:xfrm>
            <a:off x="2291944"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Contract &amp; Testnet</a:t>
            </a:r>
            <a:endParaRPr lang="en-US" sz="1150" dirty="0"/>
          </a:p>
        </p:txBody>
      </p:sp>
      <p:sp>
        <p:nvSpPr>
          <p:cNvPr id="13" name="Text 11"/>
          <p:cNvSpPr/>
          <p:nvPr/>
        </p:nvSpPr>
        <p:spPr>
          <a:xfrm>
            <a:off x="2291944"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Deploy Solidity contract, test with sample transactions</a:t>
            </a:r>
            <a:endParaRPr lang="en-US" sz="950" dirty="0"/>
          </a:p>
        </p:txBody>
      </p:sp>
      <p:sp>
        <p:nvSpPr>
          <p:cNvPr id="14" name="Shape 12"/>
          <p:cNvSpPr/>
          <p:nvPr/>
        </p:nvSpPr>
        <p:spPr>
          <a:xfrm>
            <a:off x="3791560" y="1965960"/>
            <a:ext cx="1463040" cy="502920"/>
          </a:xfrm>
          <a:prstGeom prst="roundRect">
            <a:avLst>
              <a:gd name="adj" fmla="val 14545"/>
            </a:avLst>
          </a:prstGeom>
          <a:solidFill>
            <a:srgbClr val="00A896"/>
          </a:solidFill>
          <a:ln/>
        </p:spPr>
        <p:txBody>
          <a:bodyPr/>
          <a:lstStyle/>
          <a:p>
            <a:endParaRPr lang="en-US"/>
          </a:p>
        </p:txBody>
      </p:sp>
      <p:sp>
        <p:nvSpPr>
          <p:cNvPr id="15" name="Text 13"/>
          <p:cNvSpPr/>
          <p:nvPr/>
        </p:nvSpPr>
        <p:spPr>
          <a:xfrm>
            <a:off x="3791560"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5–6</a:t>
            </a:r>
            <a:endParaRPr lang="en-US" sz="1200" dirty="0"/>
          </a:p>
        </p:txBody>
      </p:sp>
      <p:sp>
        <p:nvSpPr>
          <p:cNvPr id="16" name="Shape 14"/>
          <p:cNvSpPr/>
          <p:nvPr/>
        </p:nvSpPr>
        <p:spPr>
          <a:xfrm>
            <a:off x="3791560" y="2587752"/>
            <a:ext cx="1463040" cy="3108960"/>
          </a:xfrm>
          <a:prstGeom prst="roundRect">
            <a:avLst>
              <a:gd name="adj" fmla="val 5000"/>
            </a:avLst>
          </a:prstGeom>
          <a:solidFill>
            <a:srgbClr val="F2F8F8"/>
          </a:solidFill>
          <a:ln w="12700">
            <a:solidFill>
              <a:srgbClr val="00A896"/>
            </a:solidFill>
            <a:prstDash val="solid"/>
          </a:ln>
        </p:spPr>
        <p:txBody>
          <a:bodyPr/>
          <a:lstStyle/>
          <a:p>
            <a:endParaRPr lang="en-US"/>
          </a:p>
        </p:txBody>
      </p:sp>
      <p:sp>
        <p:nvSpPr>
          <p:cNvPr id="17" name="Text 15"/>
          <p:cNvSpPr/>
          <p:nvPr/>
        </p:nvSpPr>
        <p:spPr>
          <a:xfrm>
            <a:off x="3864712"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Indexer &amp; Pipeline</a:t>
            </a:r>
            <a:endParaRPr lang="en-US" sz="1150" dirty="0"/>
          </a:p>
        </p:txBody>
      </p:sp>
      <p:sp>
        <p:nvSpPr>
          <p:cNvPr id="18" name="Text 16"/>
          <p:cNvSpPr/>
          <p:nvPr/>
        </p:nvSpPr>
        <p:spPr>
          <a:xfrm>
            <a:off x="3864712"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Build event listener, verify chain-to-SQL consistency</a:t>
            </a:r>
            <a:endParaRPr lang="en-US" sz="950" dirty="0"/>
          </a:p>
        </p:txBody>
      </p:sp>
      <p:sp>
        <p:nvSpPr>
          <p:cNvPr id="19" name="Shape 17"/>
          <p:cNvSpPr/>
          <p:nvPr/>
        </p:nvSpPr>
        <p:spPr>
          <a:xfrm>
            <a:off x="5364328" y="1965960"/>
            <a:ext cx="1463040" cy="502920"/>
          </a:xfrm>
          <a:prstGeom prst="roundRect">
            <a:avLst>
              <a:gd name="adj" fmla="val 14545"/>
            </a:avLst>
          </a:prstGeom>
          <a:solidFill>
            <a:srgbClr val="00A896"/>
          </a:solidFill>
          <a:ln/>
        </p:spPr>
        <p:txBody>
          <a:bodyPr/>
          <a:lstStyle/>
          <a:p>
            <a:endParaRPr lang="en-US"/>
          </a:p>
        </p:txBody>
      </p:sp>
      <p:sp>
        <p:nvSpPr>
          <p:cNvPr id="20" name="Text 18"/>
          <p:cNvSpPr/>
          <p:nvPr/>
        </p:nvSpPr>
        <p:spPr>
          <a:xfrm>
            <a:off x="5364328"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7–8</a:t>
            </a:r>
            <a:endParaRPr lang="en-US" sz="1200" dirty="0"/>
          </a:p>
        </p:txBody>
      </p:sp>
      <p:sp>
        <p:nvSpPr>
          <p:cNvPr id="21" name="Shape 19"/>
          <p:cNvSpPr/>
          <p:nvPr/>
        </p:nvSpPr>
        <p:spPr>
          <a:xfrm>
            <a:off x="5364328" y="2587752"/>
            <a:ext cx="1463040" cy="3108960"/>
          </a:xfrm>
          <a:prstGeom prst="roundRect">
            <a:avLst>
              <a:gd name="adj" fmla="val 5000"/>
            </a:avLst>
          </a:prstGeom>
          <a:solidFill>
            <a:srgbClr val="F2F8F8"/>
          </a:solidFill>
          <a:ln w="12700">
            <a:solidFill>
              <a:srgbClr val="00A896"/>
            </a:solidFill>
            <a:prstDash val="solid"/>
          </a:ln>
        </p:spPr>
        <p:txBody>
          <a:bodyPr/>
          <a:lstStyle/>
          <a:p>
            <a:endParaRPr lang="en-US"/>
          </a:p>
        </p:txBody>
      </p:sp>
      <p:sp>
        <p:nvSpPr>
          <p:cNvPr id="22" name="Text 20"/>
          <p:cNvSpPr/>
          <p:nvPr/>
        </p:nvSpPr>
        <p:spPr>
          <a:xfrm>
            <a:off x="5437480"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Data &amp; Features</a:t>
            </a:r>
            <a:endParaRPr lang="en-US" sz="1150" dirty="0"/>
          </a:p>
        </p:txBody>
      </p:sp>
      <p:sp>
        <p:nvSpPr>
          <p:cNvPr id="23" name="Text 21"/>
          <p:cNvSpPr/>
          <p:nvPr/>
        </p:nvSpPr>
        <p:spPr>
          <a:xfrm>
            <a:off x="5437480"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Generate synthetic dataset, engineer risk features</a:t>
            </a:r>
            <a:endParaRPr lang="en-US" sz="950" dirty="0"/>
          </a:p>
        </p:txBody>
      </p:sp>
      <p:sp>
        <p:nvSpPr>
          <p:cNvPr id="24" name="Shape 22"/>
          <p:cNvSpPr/>
          <p:nvPr/>
        </p:nvSpPr>
        <p:spPr>
          <a:xfrm>
            <a:off x="6937096" y="1965960"/>
            <a:ext cx="1463040" cy="502920"/>
          </a:xfrm>
          <a:prstGeom prst="roundRect">
            <a:avLst>
              <a:gd name="adj" fmla="val 14545"/>
            </a:avLst>
          </a:prstGeom>
          <a:solidFill>
            <a:srgbClr val="02C39A"/>
          </a:solidFill>
          <a:ln/>
        </p:spPr>
        <p:txBody>
          <a:bodyPr/>
          <a:lstStyle/>
          <a:p>
            <a:endParaRPr lang="en-US"/>
          </a:p>
        </p:txBody>
      </p:sp>
      <p:sp>
        <p:nvSpPr>
          <p:cNvPr id="25" name="Text 23"/>
          <p:cNvSpPr/>
          <p:nvPr/>
        </p:nvSpPr>
        <p:spPr>
          <a:xfrm>
            <a:off x="6937096"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9–10</a:t>
            </a:r>
            <a:endParaRPr lang="en-US" sz="1200" dirty="0"/>
          </a:p>
        </p:txBody>
      </p:sp>
      <p:sp>
        <p:nvSpPr>
          <p:cNvPr id="26" name="Shape 24"/>
          <p:cNvSpPr/>
          <p:nvPr/>
        </p:nvSpPr>
        <p:spPr>
          <a:xfrm>
            <a:off x="6937096" y="2587752"/>
            <a:ext cx="1463040" cy="3108960"/>
          </a:xfrm>
          <a:prstGeom prst="roundRect">
            <a:avLst>
              <a:gd name="adj" fmla="val 5000"/>
            </a:avLst>
          </a:prstGeom>
          <a:solidFill>
            <a:srgbClr val="F2F8F8"/>
          </a:solidFill>
          <a:ln w="12700">
            <a:solidFill>
              <a:srgbClr val="02C39A"/>
            </a:solidFill>
            <a:prstDash val="solid"/>
          </a:ln>
        </p:spPr>
        <p:txBody>
          <a:bodyPr/>
          <a:lstStyle/>
          <a:p>
            <a:endParaRPr lang="en-US"/>
          </a:p>
        </p:txBody>
      </p:sp>
      <p:sp>
        <p:nvSpPr>
          <p:cNvPr id="27" name="Text 25"/>
          <p:cNvSpPr/>
          <p:nvPr/>
        </p:nvSpPr>
        <p:spPr>
          <a:xfrm>
            <a:off x="7010248"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Model Training</a:t>
            </a:r>
            <a:endParaRPr lang="en-US" sz="1150" dirty="0"/>
          </a:p>
        </p:txBody>
      </p:sp>
      <p:sp>
        <p:nvSpPr>
          <p:cNvPr id="28" name="Text 26"/>
          <p:cNvSpPr/>
          <p:nvPr/>
        </p:nvSpPr>
        <p:spPr>
          <a:xfrm>
            <a:off x="7010248"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Train classifier, evaluate with precision/recall/ROC-AUC</a:t>
            </a:r>
            <a:endParaRPr lang="en-US" sz="950" dirty="0"/>
          </a:p>
        </p:txBody>
      </p:sp>
      <p:sp>
        <p:nvSpPr>
          <p:cNvPr id="29" name="Shape 27"/>
          <p:cNvSpPr/>
          <p:nvPr/>
        </p:nvSpPr>
        <p:spPr>
          <a:xfrm>
            <a:off x="8509864" y="1965960"/>
            <a:ext cx="1463040" cy="502920"/>
          </a:xfrm>
          <a:prstGeom prst="roundRect">
            <a:avLst>
              <a:gd name="adj" fmla="val 14545"/>
            </a:avLst>
          </a:prstGeom>
          <a:solidFill>
            <a:srgbClr val="02C39A"/>
          </a:solidFill>
          <a:ln/>
        </p:spPr>
        <p:txBody>
          <a:bodyPr/>
          <a:lstStyle/>
          <a:p>
            <a:endParaRPr lang="en-US"/>
          </a:p>
        </p:txBody>
      </p:sp>
      <p:sp>
        <p:nvSpPr>
          <p:cNvPr id="30" name="Text 28"/>
          <p:cNvSpPr/>
          <p:nvPr/>
        </p:nvSpPr>
        <p:spPr>
          <a:xfrm>
            <a:off x="8509864"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11–12</a:t>
            </a:r>
            <a:endParaRPr lang="en-US" sz="1200" dirty="0"/>
          </a:p>
        </p:txBody>
      </p:sp>
      <p:sp>
        <p:nvSpPr>
          <p:cNvPr id="31" name="Shape 29"/>
          <p:cNvSpPr/>
          <p:nvPr/>
        </p:nvSpPr>
        <p:spPr>
          <a:xfrm>
            <a:off x="8509864" y="2587752"/>
            <a:ext cx="1463040" cy="3108960"/>
          </a:xfrm>
          <a:prstGeom prst="roundRect">
            <a:avLst>
              <a:gd name="adj" fmla="val 5000"/>
            </a:avLst>
          </a:prstGeom>
          <a:solidFill>
            <a:srgbClr val="F2F8F8"/>
          </a:solidFill>
          <a:ln w="12700">
            <a:solidFill>
              <a:srgbClr val="02C39A"/>
            </a:solidFill>
            <a:prstDash val="solid"/>
          </a:ln>
        </p:spPr>
        <p:txBody>
          <a:bodyPr/>
          <a:lstStyle/>
          <a:p>
            <a:endParaRPr lang="en-US"/>
          </a:p>
        </p:txBody>
      </p:sp>
      <p:sp>
        <p:nvSpPr>
          <p:cNvPr id="32" name="Text 30"/>
          <p:cNvSpPr/>
          <p:nvPr/>
        </p:nvSpPr>
        <p:spPr>
          <a:xfrm>
            <a:off x="8583016"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Dashboard</a:t>
            </a:r>
            <a:endParaRPr lang="en-US" sz="1150" dirty="0"/>
          </a:p>
        </p:txBody>
      </p:sp>
      <p:sp>
        <p:nvSpPr>
          <p:cNvPr id="33" name="Text 31"/>
          <p:cNvSpPr/>
          <p:nvPr/>
        </p:nvSpPr>
        <p:spPr>
          <a:xfrm>
            <a:off x="8583016"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Build UI, wire risk scores back to SQL and optionally on-chain</a:t>
            </a:r>
            <a:endParaRPr lang="en-US" sz="950" dirty="0"/>
          </a:p>
        </p:txBody>
      </p:sp>
      <p:sp>
        <p:nvSpPr>
          <p:cNvPr id="34" name="Shape 32"/>
          <p:cNvSpPr/>
          <p:nvPr/>
        </p:nvSpPr>
        <p:spPr>
          <a:xfrm>
            <a:off x="10082632" y="1965960"/>
            <a:ext cx="1463040" cy="502920"/>
          </a:xfrm>
          <a:prstGeom prst="roundRect">
            <a:avLst>
              <a:gd name="adj" fmla="val 14545"/>
            </a:avLst>
          </a:prstGeom>
          <a:solidFill>
            <a:srgbClr val="0F5C5C"/>
          </a:solidFill>
          <a:ln/>
        </p:spPr>
        <p:txBody>
          <a:bodyPr/>
          <a:lstStyle/>
          <a:p>
            <a:endParaRPr lang="en-US"/>
          </a:p>
        </p:txBody>
      </p:sp>
      <p:sp>
        <p:nvSpPr>
          <p:cNvPr id="35" name="Text 33"/>
          <p:cNvSpPr/>
          <p:nvPr/>
        </p:nvSpPr>
        <p:spPr>
          <a:xfrm>
            <a:off x="10082632" y="1965960"/>
            <a:ext cx="14630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13–14</a:t>
            </a:r>
            <a:endParaRPr lang="en-US" sz="1200" dirty="0"/>
          </a:p>
        </p:txBody>
      </p:sp>
      <p:sp>
        <p:nvSpPr>
          <p:cNvPr id="36" name="Shape 34"/>
          <p:cNvSpPr/>
          <p:nvPr/>
        </p:nvSpPr>
        <p:spPr>
          <a:xfrm>
            <a:off x="10082632" y="2587752"/>
            <a:ext cx="1463040" cy="3108960"/>
          </a:xfrm>
          <a:prstGeom prst="roundRect">
            <a:avLst>
              <a:gd name="adj" fmla="val 5000"/>
            </a:avLst>
          </a:prstGeom>
          <a:solidFill>
            <a:srgbClr val="F2F8F8"/>
          </a:solidFill>
          <a:ln w="12700">
            <a:solidFill>
              <a:srgbClr val="0F5C5C"/>
            </a:solidFill>
            <a:prstDash val="solid"/>
          </a:ln>
        </p:spPr>
        <p:txBody>
          <a:bodyPr/>
          <a:lstStyle/>
          <a:p>
            <a:endParaRPr lang="en-US"/>
          </a:p>
        </p:txBody>
      </p:sp>
      <p:sp>
        <p:nvSpPr>
          <p:cNvPr id="37" name="Text 35"/>
          <p:cNvSpPr/>
          <p:nvPr/>
        </p:nvSpPr>
        <p:spPr>
          <a:xfrm>
            <a:off x="10155784" y="2697480"/>
            <a:ext cx="1316736" cy="594360"/>
          </a:xfrm>
          <a:prstGeom prst="rect">
            <a:avLst/>
          </a:prstGeom>
          <a:noFill/>
          <a:ln/>
        </p:spPr>
        <p:txBody>
          <a:bodyPr wrap="square" lIns="0" tIns="0" rIns="0" bIns="0" rtlCol="0" anchor="ctr"/>
          <a:lstStyle/>
          <a:p>
            <a:pPr marL="0" indent="0" algn="ctr">
              <a:buNone/>
            </a:pPr>
            <a:r>
              <a:rPr lang="en-US" sz="1150" b="1" dirty="0">
                <a:solidFill>
                  <a:srgbClr val="1B2B34"/>
                </a:solidFill>
                <a:latin typeface="Calibri" pitchFamily="34" charset="0"/>
                <a:ea typeface="Calibri" pitchFamily="34" charset="-122"/>
                <a:cs typeface="Calibri" pitchFamily="34" charset="-120"/>
              </a:rPr>
              <a:t>Test &amp; Demo</a:t>
            </a:r>
            <a:endParaRPr lang="en-US" sz="1150" dirty="0"/>
          </a:p>
        </p:txBody>
      </p:sp>
      <p:sp>
        <p:nvSpPr>
          <p:cNvPr id="38" name="Text 36"/>
          <p:cNvSpPr/>
          <p:nvPr/>
        </p:nvSpPr>
        <p:spPr>
          <a:xfrm>
            <a:off x="10155784" y="3337560"/>
            <a:ext cx="1316736" cy="2286000"/>
          </a:xfrm>
          <a:prstGeom prst="rect">
            <a:avLst/>
          </a:prstGeom>
          <a:noFill/>
          <a:ln/>
        </p:spPr>
        <p:txBody>
          <a:bodyPr wrap="square" lIns="0" tIns="0" rIns="0" bIns="0" rtlCol="0" anchor="t"/>
          <a:lstStyle/>
          <a:p>
            <a:pPr marL="0" indent="0" algn="ctr">
              <a:buNone/>
            </a:pPr>
            <a:r>
              <a:rPr lang="en-US" sz="950" dirty="0">
                <a:solidFill>
                  <a:srgbClr val="5C6B73"/>
                </a:solidFill>
                <a:latin typeface="Calibri" pitchFamily="34" charset="0"/>
                <a:ea typeface="Calibri" pitchFamily="34" charset="-122"/>
                <a:cs typeface="Calibri" pitchFamily="34" charset="-120"/>
              </a:rPr>
              <a:t>End-to-end testing, report write-up, live demo rehearsal</a:t>
            </a:r>
            <a:endParaRPr lang="en-US" sz="950" dirty="0"/>
          </a:p>
        </p:txBody>
      </p:sp>
      <p:sp>
        <p:nvSpPr>
          <p:cNvPr id="39" name="Text 37"/>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SUBMISSION</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Deliverables Checklist</a:t>
            </a:r>
            <a:endParaRPr lang="en-US" sz="3200" dirty="0"/>
          </a:p>
        </p:txBody>
      </p:sp>
      <p:sp>
        <p:nvSpPr>
          <p:cNvPr id="4" name="Shape 2"/>
          <p:cNvSpPr/>
          <p:nvPr/>
        </p:nvSpPr>
        <p:spPr>
          <a:xfrm>
            <a:off x="548640" y="1783080"/>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5" name="Text 3"/>
          <p:cNvSpPr/>
          <p:nvPr/>
        </p:nvSpPr>
        <p:spPr>
          <a:xfrm>
            <a:off x="1051560" y="1728216"/>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GitHub repo organized by /contracts, /listener, /model, /dashboard</a:t>
            </a:r>
            <a:endParaRPr lang="en-US" sz="1400" dirty="0"/>
          </a:p>
        </p:txBody>
      </p:sp>
      <p:sp>
        <p:nvSpPr>
          <p:cNvPr id="6" name="Shape 4"/>
          <p:cNvSpPr/>
          <p:nvPr/>
        </p:nvSpPr>
        <p:spPr>
          <a:xfrm>
            <a:off x="548640" y="2404872"/>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7" name="Text 5"/>
          <p:cNvSpPr/>
          <p:nvPr/>
        </p:nvSpPr>
        <p:spPr>
          <a:xfrm>
            <a:off x="1051560" y="2350008"/>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SQL schema file (schema.sql) with sample seed queries</a:t>
            </a:r>
            <a:endParaRPr lang="en-US" sz="1400" dirty="0"/>
          </a:p>
        </p:txBody>
      </p:sp>
      <p:sp>
        <p:nvSpPr>
          <p:cNvPr id="8" name="Shape 6"/>
          <p:cNvSpPr/>
          <p:nvPr/>
        </p:nvSpPr>
        <p:spPr>
          <a:xfrm>
            <a:off x="548640" y="3026664"/>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9" name="Text 7"/>
          <p:cNvSpPr/>
          <p:nvPr/>
        </p:nvSpPr>
        <p:spPr>
          <a:xfrm>
            <a:off x="1051560" y="2971800"/>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Deployed or simulated smart contract with 10+ test transactions</a:t>
            </a:r>
            <a:endParaRPr lang="en-US" sz="1400" dirty="0"/>
          </a:p>
        </p:txBody>
      </p:sp>
      <p:sp>
        <p:nvSpPr>
          <p:cNvPr id="10" name="Shape 8"/>
          <p:cNvSpPr/>
          <p:nvPr/>
        </p:nvSpPr>
        <p:spPr>
          <a:xfrm>
            <a:off x="548640" y="3648456"/>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11" name="Text 9"/>
          <p:cNvSpPr/>
          <p:nvPr/>
        </p:nvSpPr>
        <p:spPr>
          <a:xfrm>
            <a:off x="1051560" y="3593592"/>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Synthetic dataset with documented fraud-injection logic, plus trained model metrics</a:t>
            </a:r>
            <a:endParaRPr lang="en-US" sz="1400" dirty="0"/>
          </a:p>
        </p:txBody>
      </p:sp>
      <p:sp>
        <p:nvSpPr>
          <p:cNvPr id="12" name="Shape 10"/>
          <p:cNvSpPr/>
          <p:nvPr/>
        </p:nvSpPr>
        <p:spPr>
          <a:xfrm>
            <a:off x="548640" y="4270248"/>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13" name="Text 11"/>
          <p:cNvSpPr/>
          <p:nvPr/>
        </p:nvSpPr>
        <p:spPr>
          <a:xfrm>
            <a:off x="1051560" y="4215384"/>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Working dashboard (local or deployed via Streamlit Community Cloud)</a:t>
            </a:r>
            <a:endParaRPr lang="en-US" sz="1400" dirty="0"/>
          </a:p>
        </p:txBody>
      </p:sp>
      <p:sp>
        <p:nvSpPr>
          <p:cNvPr id="14" name="Shape 12"/>
          <p:cNvSpPr/>
          <p:nvPr/>
        </p:nvSpPr>
        <p:spPr>
          <a:xfrm>
            <a:off x="548640" y="4892040"/>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15" name="Text 13"/>
          <p:cNvSpPr/>
          <p:nvPr/>
        </p:nvSpPr>
        <p:spPr>
          <a:xfrm>
            <a:off x="1051560" y="4837176"/>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Project report: motivation, architecture, tech rationale, results, limitations</a:t>
            </a:r>
            <a:endParaRPr lang="en-US" sz="1400" dirty="0"/>
          </a:p>
        </p:txBody>
      </p:sp>
      <p:sp>
        <p:nvSpPr>
          <p:cNvPr id="16" name="Shape 14"/>
          <p:cNvSpPr/>
          <p:nvPr/>
        </p:nvSpPr>
        <p:spPr>
          <a:xfrm>
            <a:off x="548640" y="5513832"/>
            <a:ext cx="292608" cy="292608"/>
          </a:xfrm>
          <a:prstGeom prst="roundRect">
            <a:avLst>
              <a:gd name="adj" fmla="val 18750"/>
            </a:avLst>
          </a:prstGeom>
          <a:solidFill>
            <a:srgbClr val="FFFFFF"/>
          </a:solidFill>
          <a:ln w="19050">
            <a:solidFill>
              <a:srgbClr val="00A896"/>
            </a:solidFill>
            <a:prstDash val="solid"/>
          </a:ln>
        </p:spPr>
        <p:txBody>
          <a:bodyPr/>
          <a:lstStyle/>
          <a:p>
            <a:endParaRPr lang="en-US"/>
          </a:p>
        </p:txBody>
      </p:sp>
      <p:sp>
        <p:nvSpPr>
          <p:cNvPr id="17" name="Text 15"/>
          <p:cNvSpPr/>
          <p:nvPr/>
        </p:nvSpPr>
        <p:spPr>
          <a:xfrm>
            <a:off x="1051560" y="5458968"/>
            <a:ext cx="9966960" cy="45720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5-minute live demo: clean transaction → injected fraud → flagged with explanation</a:t>
            </a:r>
            <a:endParaRPr lang="en-US" sz="1400" dirty="0"/>
          </a:p>
        </p:txBody>
      </p:sp>
      <p:sp>
        <p:nvSpPr>
          <p:cNvPr id="18" name="Text 16"/>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ADVICE</a:t>
            </a:r>
            <a:endParaRPr lang="en-US" sz="1300" dirty="0"/>
          </a:p>
        </p:txBody>
      </p:sp>
      <p:sp>
        <p:nvSpPr>
          <p:cNvPr id="3" name="Text 1"/>
          <p:cNvSpPr/>
          <p:nvPr/>
        </p:nvSpPr>
        <p:spPr>
          <a:xfrm>
            <a:off x="548640" y="621792"/>
            <a:ext cx="10607040" cy="731520"/>
          </a:xfrm>
          <a:prstGeom prst="rect">
            <a:avLst/>
          </a:prstGeom>
          <a:noFill/>
          <a:ln/>
        </p:spPr>
        <p:txBody>
          <a:bodyPr wrap="square" lIns="0" tIns="0" rIns="0" bIns="0" rtlCol="0" anchor="ctr"/>
          <a:lstStyle/>
          <a:p>
            <a:pPr marL="0" indent="0">
              <a:buNone/>
            </a:pPr>
            <a:r>
              <a:rPr lang="en-US" sz="3200" b="1" dirty="0">
                <a:solidFill>
                  <a:srgbClr val="1B2B34"/>
                </a:solidFill>
                <a:latin typeface="Cambria" pitchFamily="34" charset="0"/>
                <a:ea typeface="Cambria" pitchFamily="34" charset="-122"/>
                <a:cs typeface="Cambria" pitchFamily="34" charset="-120"/>
              </a:rPr>
              <a:t>Common Pitfalls to Avoid</a:t>
            </a:r>
            <a:endParaRPr lang="en-US" sz="3200" dirty="0"/>
          </a:p>
        </p:txBody>
      </p:sp>
      <p:sp>
        <p:nvSpPr>
          <p:cNvPr id="4" name="Shape 2"/>
          <p:cNvSpPr/>
          <p:nvPr/>
        </p:nvSpPr>
        <p:spPr>
          <a:xfrm>
            <a:off x="548640" y="1828800"/>
            <a:ext cx="5257800" cy="1828800"/>
          </a:xfrm>
          <a:prstGeom prst="roundRect">
            <a:avLst>
              <a:gd name="adj" fmla="val 5000"/>
            </a:avLst>
          </a:prstGeom>
          <a:solidFill>
            <a:srgbClr val="F2F8F8"/>
          </a:solidFill>
          <a:ln/>
        </p:spPr>
        <p:txBody>
          <a:bodyPr/>
          <a:lstStyle/>
          <a:p>
            <a:endParaRPr lang="en-US"/>
          </a:p>
        </p:txBody>
      </p:sp>
      <p:sp>
        <p:nvSpPr>
          <p:cNvPr id="5" name="Shape 3"/>
          <p:cNvSpPr/>
          <p:nvPr/>
        </p:nvSpPr>
        <p:spPr>
          <a:xfrm>
            <a:off x="804672" y="2084832"/>
            <a:ext cx="457200" cy="45720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6" name="Text 4"/>
          <p:cNvSpPr/>
          <p:nvPr/>
        </p:nvSpPr>
        <p:spPr>
          <a:xfrm>
            <a:off x="804672" y="2084832"/>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1463040" y="2029968"/>
            <a:ext cx="4069080" cy="502920"/>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Don't start with blockchain</a:t>
            </a:r>
            <a:endParaRPr lang="en-US" sz="1450" dirty="0"/>
          </a:p>
        </p:txBody>
      </p:sp>
      <p:sp>
        <p:nvSpPr>
          <p:cNvPr id="8" name="Text 6"/>
          <p:cNvSpPr/>
          <p:nvPr/>
        </p:nvSpPr>
        <p:spPr>
          <a:xfrm>
            <a:off x="822960" y="2651760"/>
            <a:ext cx="4709160" cy="914400"/>
          </a:xfrm>
          <a:prstGeom prst="rect">
            <a:avLst/>
          </a:prstGeom>
          <a:noFill/>
          <a:ln/>
        </p:spPr>
        <p:txBody>
          <a:bodyPr wrap="square" lIns="0" tIns="0" rIns="0" bIns="0" rtlCol="0" anchor="t"/>
          <a:lstStyle/>
          <a:p>
            <a:pPr marL="0" indent="0">
              <a:buNone/>
            </a:pPr>
            <a:r>
              <a:rPr lang="en-US" sz="1200" dirty="0">
                <a:solidFill>
                  <a:srgbClr val="5C6B73"/>
                </a:solidFill>
                <a:latin typeface="Calibri" pitchFamily="34" charset="0"/>
                <a:ea typeface="Calibri" pitchFamily="34" charset="-122"/>
                <a:cs typeface="Calibri" pitchFamily="34" charset="-120"/>
              </a:rPr>
              <a:t>Build SQL schema + a placeholder event source first so teams aren't blocked on Solidity debugging.</a:t>
            </a:r>
            <a:endParaRPr lang="en-US" sz="1200" dirty="0"/>
          </a:p>
        </p:txBody>
      </p:sp>
      <p:sp>
        <p:nvSpPr>
          <p:cNvPr id="9" name="Shape 7"/>
          <p:cNvSpPr/>
          <p:nvPr/>
        </p:nvSpPr>
        <p:spPr>
          <a:xfrm>
            <a:off x="6126480" y="1828800"/>
            <a:ext cx="5257800" cy="1828800"/>
          </a:xfrm>
          <a:prstGeom prst="roundRect">
            <a:avLst>
              <a:gd name="adj" fmla="val 5000"/>
            </a:avLst>
          </a:prstGeom>
          <a:solidFill>
            <a:srgbClr val="F2F8F8"/>
          </a:solidFill>
          <a:ln/>
        </p:spPr>
        <p:txBody>
          <a:bodyPr/>
          <a:lstStyle/>
          <a:p>
            <a:endParaRPr lang="en-US"/>
          </a:p>
        </p:txBody>
      </p:sp>
      <p:sp>
        <p:nvSpPr>
          <p:cNvPr id="10" name="Shape 8"/>
          <p:cNvSpPr/>
          <p:nvPr/>
        </p:nvSpPr>
        <p:spPr>
          <a:xfrm>
            <a:off x="6382512" y="2084832"/>
            <a:ext cx="457200" cy="457200"/>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11" name="Text 9"/>
          <p:cNvSpPr/>
          <p:nvPr/>
        </p:nvSpPr>
        <p:spPr>
          <a:xfrm>
            <a:off x="6382512" y="2084832"/>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7040880" y="2029968"/>
            <a:ext cx="4069080" cy="502920"/>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Don't trust raw accuracy</a:t>
            </a:r>
            <a:endParaRPr lang="en-US" sz="1450" dirty="0"/>
          </a:p>
        </p:txBody>
      </p:sp>
      <p:sp>
        <p:nvSpPr>
          <p:cNvPr id="13" name="Text 11"/>
          <p:cNvSpPr/>
          <p:nvPr/>
        </p:nvSpPr>
        <p:spPr>
          <a:xfrm>
            <a:off x="6400800" y="2651760"/>
            <a:ext cx="4709160" cy="914400"/>
          </a:xfrm>
          <a:prstGeom prst="rect">
            <a:avLst/>
          </a:prstGeom>
          <a:noFill/>
          <a:ln/>
        </p:spPr>
        <p:txBody>
          <a:bodyPr wrap="square" lIns="0" tIns="0" rIns="0" bIns="0" rtlCol="0" anchor="t"/>
          <a:lstStyle/>
          <a:p>
            <a:pPr marL="0" indent="0">
              <a:buNone/>
            </a:pPr>
            <a:r>
              <a:rPr lang="en-US" sz="1200" dirty="0">
                <a:solidFill>
                  <a:srgbClr val="5C6B73"/>
                </a:solidFill>
                <a:latin typeface="Calibri" pitchFamily="34" charset="0"/>
                <a:ea typeface="Calibri" pitchFamily="34" charset="-122"/>
                <a:cs typeface="Calibri" pitchFamily="34" charset="-120"/>
              </a:rPr>
              <a:t>With ~8-10% fraud rate, a model predicting 'not fraud' always still scores ~90% accuracy. Use precision/recall/F1 on the fraud class.</a:t>
            </a:r>
            <a:endParaRPr lang="en-US" sz="1200" dirty="0"/>
          </a:p>
        </p:txBody>
      </p:sp>
      <p:sp>
        <p:nvSpPr>
          <p:cNvPr id="14" name="Shape 12"/>
          <p:cNvSpPr/>
          <p:nvPr/>
        </p:nvSpPr>
        <p:spPr>
          <a:xfrm>
            <a:off x="548640" y="3931920"/>
            <a:ext cx="5257800" cy="1828800"/>
          </a:xfrm>
          <a:prstGeom prst="roundRect">
            <a:avLst>
              <a:gd name="adj" fmla="val 5000"/>
            </a:avLst>
          </a:prstGeom>
          <a:solidFill>
            <a:srgbClr val="F2F8F8"/>
          </a:solidFill>
          <a:ln/>
        </p:spPr>
        <p:txBody>
          <a:bodyPr/>
          <a:lstStyle/>
          <a:p>
            <a:endParaRPr lang="en-US"/>
          </a:p>
        </p:txBody>
      </p:sp>
      <p:sp>
        <p:nvSpPr>
          <p:cNvPr id="15" name="Shape 13"/>
          <p:cNvSpPr/>
          <p:nvPr/>
        </p:nvSpPr>
        <p:spPr>
          <a:xfrm>
            <a:off x="804672" y="4187952"/>
            <a:ext cx="457200" cy="457200"/>
          </a:xfrm>
          <a:prstGeom prst="ellipse">
            <a:avLst/>
          </a:prstGeom>
          <a:solidFill>
            <a:srgbClr val="028090"/>
          </a:solidFill>
          <a:ln/>
          <a:effectLst>
            <a:outerShdw blurRad="76200" dist="25400" dir="5400000" algn="bl" rotWithShape="0">
              <a:srgbClr val="1B2B34">
                <a:alpha val="25000"/>
              </a:srgbClr>
            </a:outerShdw>
          </a:effectLst>
        </p:spPr>
        <p:txBody>
          <a:bodyPr/>
          <a:lstStyle/>
          <a:p>
            <a:endParaRPr lang="en-US"/>
          </a:p>
        </p:txBody>
      </p:sp>
      <p:sp>
        <p:nvSpPr>
          <p:cNvPr id="16" name="Text 14"/>
          <p:cNvSpPr/>
          <p:nvPr/>
        </p:nvSpPr>
        <p:spPr>
          <a:xfrm>
            <a:off x="804672" y="4187952"/>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1463040" y="4133088"/>
            <a:ext cx="4069080" cy="502920"/>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Don't over-engineer the contract</a:t>
            </a:r>
            <a:endParaRPr lang="en-US" sz="1450" dirty="0"/>
          </a:p>
        </p:txBody>
      </p:sp>
      <p:sp>
        <p:nvSpPr>
          <p:cNvPr id="18" name="Text 16"/>
          <p:cNvSpPr/>
          <p:nvPr/>
        </p:nvSpPr>
        <p:spPr>
          <a:xfrm>
            <a:off x="822960" y="4754880"/>
            <a:ext cx="4709160" cy="914400"/>
          </a:xfrm>
          <a:prstGeom prst="rect">
            <a:avLst/>
          </a:prstGeom>
          <a:noFill/>
          <a:ln/>
        </p:spPr>
        <p:txBody>
          <a:bodyPr wrap="square" lIns="0" tIns="0" rIns="0" bIns="0" rtlCol="0" anchor="t"/>
          <a:lstStyle/>
          <a:p>
            <a:pPr marL="0" indent="0">
              <a:buNone/>
            </a:pPr>
            <a:r>
              <a:rPr lang="en-US" sz="1200" dirty="0">
                <a:solidFill>
                  <a:srgbClr val="5C6B73"/>
                </a:solidFill>
                <a:latin typeface="Calibri" pitchFamily="34" charset="0"/>
                <a:ea typeface="Calibri" pitchFamily="34" charset="-122"/>
                <a:cs typeface="Calibri" pitchFamily="34" charset="-120"/>
              </a:rPr>
              <a:t>Access control and gas optimization are out of scope — spend that time on AI/SQL integration instead.</a:t>
            </a:r>
            <a:endParaRPr lang="en-US" sz="1200" dirty="0"/>
          </a:p>
        </p:txBody>
      </p:sp>
      <p:sp>
        <p:nvSpPr>
          <p:cNvPr id="19" name="Shape 17"/>
          <p:cNvSpPr/>
          <p:nvPr/>
        </p:nvSpPr>
        <p:spPr>
          <a:xfrm>
            <a:off x="6126480" y="3931920"/>
            <a:ext cx="5257800" cy="1828800"/>
          </a:xfrm>
          <a:prstGeom prst="roundRect">
            <a:avLst>
              <a:gd name="adj" fmla="val 5000"/>
            </a:avLst>
          </a:prstGeom>
          <a:solidFill>
            <a:srgbClr val="F2F8F8"/>
          </a:solidFill>
          <a:ln/>
        </p:spPr>
        <p:txBody>
          <a:bodyPr/>
          <a:lstStyle/>
          <a:p>
            <a:endParaRPr lang="en-US"/>
          </a:p>
        </p:txBody>
      </p:sp>
      <p:sp>
        <p:nvSpPr>
          <p:cNvPr id="20" name="Shape 18"/>
          <p:cNvSpPr/>
          <p:nvPr/>
        </p:nvSpPr>
        <p:spPr>
          <a:xfrm>
            <a:off x="6382512" y="4187952"/>
            <a:ext cx="457200" cy="457200"/>
          </a:xfrm>
          <a:prstGeom prst="ellipse">
            <a:avLst/>
          </a:prstGeom>
          <a:solidFill>
            <a:srgbClr val="00A896"/>
          </a:solidFill>
          <a:ln/>
          <a:effectLst>
            <a:outerShdw blurRad="76200" dist="25400" dir="5400000" algn="bl" rotWithShape="0">
              <a:srgbClr val="1B2B34">
                <a:alpha val="25000"/>
              </a:srgbClr>
            </a:outerShdw>
          </a:effectLst>
        </p:spPr>
        <p:txBody>
          <a:bodyPr/>
          <a:lstStyle/>
          <a:p>
            <a:endParaRPr lang="en-US"/>
          </a:p>
        </p:txBody>
      </p:sp>
      <p:sp>
        <p:nvSpPr>
          <p:cNvPr id="21" name="Text 19"/>
          <p:cNvSpPr/>
          <p:nvPr/>
        </p:nvSpPr>
        <p:spPr>
          <a:xfrm>
            <a:off x="6382512" y="4187952"/>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7040880" y="4133088"/>
            <a:ext cx="4069080" cy="502920"/>
          </a:xfrm>
          <a:prstGeom prst="rect">
            <a:avLst/>
          </a:prstGeom>
          <a:noFill/>
          <a:ln/>
        </p:spPr>
        <p:txBody>
          <a:bodyPr wrap="square" lIns="0" tIns="0" rIns="0" bIns="0" rtlCol="0" anchor="ctr"/>
          <a:lstStyle/>
          <a:p>
            <a:pPr marL="0" indent="0">
              <a:buNone/>
            </a:pPr>
            <a:r>
              <a:rPr lang="en-US" sz="1450" b="1" dirty="0">
                <a:solidFill>
                  <a:srgbClr val="1B2B34"/>
                </a:solidFill>
                <a:latin typeface="Calibri" pitchFamily="34" charset="0"/>
                <a:ea typeface="Calibri" pitchFamily="34" charset="-122"/>
                <a:cs typeface="Calibri" pitchFamily="34" charset="-120"/>
              </a:rPr>
              <a:t>Don't wait until week 12 to integrate</a:t>
            </a:r>
            <a:endParaRPr lang="en-US" sz="1450" dirty="0"/>
          </a:p>
        </p:txBody>
      </p:sp>
      <p:sp>
        <p:nvSpPr>
          <p:cNvPr id="23" name="Text 21"/>
          <p:cNvSpPr/>
          <p:nvPr/>
        </p:nvSpPr>
        <p:spPr>
          <a:xfrm>
            <a:off x="6400800" y="4754880"/>
            <a:ext cx="4709160" cy="914400"/>
          </a:xfrm>
          <a:prstGeom prst="rect">
            <a:avLst/>
          </a:prstGeom>
          <a:noFill/>
          <a:ln/>
        </p:spPr>
        <p:txBody>
          <a:bodyPr wrap="square" lIns="0" tIns="0" rIns="0" bIns="0" rtlCol="0" anchor="t"/>
          <a:lstStyle/>
          <a:p>
            <a:pPr marL="0" indent="0">
              <a:buNone/>
            </a:pPr>
            <a:r>
              <a:rPr lang="en-US" sz="1200" dirty="0">
                <a:solidFill>
                  <a:srgbClr val="5C6B73"/>
                </a:solidFill>
                <a:latin typeface="Calibri" pitchFamily="34" charset="0"/>
                <a:ea typeface="Calibri" pitchFamily="34" charset="-122"/>
                <a:cs typeface="Calibri" pitchFamily="34" charset="-120"/>
              </a:rPr>
              <a:t>Test the full pipeline early with dummy data — ID/timestamp mismatches are the top cause of late scrambling.</a:t>
            </a:r>
            <a:endParaRPr lang="en-US" sz="1200" dirty="0"/>
          </a:p>
        </p:txBody>
      </p:sp>
      <p:sp>
        <p:nvSpPr>
          <p:cNvPr id="24" name="Text 22"/>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8351215" y="-2011680"/>
            <a:ext cx="6400800" cy="6400800"/>
          </a:xfrm>
          <a:prstGeom prst="ellipse">
            <a:avLst/>
          </a:prstGeom>
          <a:solidFill>
            <a:srgbClr val="028090">
              <a:alpha val="30000"/>
            </a:srgbClr>
          </a:solidFill>
          <a:ln/>
        </p:spPr>
        <p:txBody>
          <a:bodyPr/>
          <a:lstStyle/>
          <a:p>
            <a:endParaRPr lang="en-US"/>
          </a:p>
        </p:txBody>
      </p:sp>
      <p:sp>
        <p:nvSpPr>
          <p:cNvPr id="3" name="Shape 1"/>
          <p:cNvSpPr/>
          <p:nvPr/>
        </p:nvSpPr>
        <p:spPr>
          <a:xfrm>
            <a:off x="-2286000" y="4297680"/>
            <a:ext cx="4572000" cy="4572000"/>
          </a:xfrm>
          <a:prstGeom prst="ellipse">
            <a:avLst/>
          </a:prstGeom>
          <a:solidFill>
            <a:srgbClr val="00A896">
              <a:alpha val="20000"/>
            </a:srgbClr>
          </a:solidFill>
          <a:ln/>
        </p:spPr>
        <p:txBody>
          <a:bodyPr/>
          <a:lstStyle/>
          <a:p>
            <a:endParaRPr lang="en-US"/>
          </a:p>
        </p:txBody>
      </p:sp>
      <p:sp>
        <p:nvSpPr>
          <p:cNvPr id="4" name="Text 2"/>
          <p:cNvSpPr/>
          <p:nvPr/>
        </p:nvSpPr>
        <p:spPr>
          <a:xfrm>
            <a:off x="548640" y="2286000"/>
            <a:ext cx="9144000" cy="365760"/>
          </a:xfrm>
          <a:prstGeom prst="rect">
            <a:avLst/>
          </a:prstGeom>
          <a:noFill/>
          <a:ln/>
        </p:spPr>
        <p:txBody>
          <a:bodyPr wrap="square" lIns="0" tIns="0" rIns="0" bIns="0" rtlCol="0" anchor="ctr"/>
          <a:lstStyle/>
          <a:p>
            <a:pPr marL="0" indent="0">
              <a:buNone/>
            </a:pPr>
            <a:r>
              <a:rPr lang="en-US" sz="1500" b="1" kern="0" spc="300" dirty="0">
                <a:solidFill>
                  <a:srgbClr val="02C39A"/>
                </a:solidFill>
                <a:latin typeface="Calibri" pitchFamily="34" charset="0"/>
                <a:ea typeface="Calibri" pitchFamily="34" charset="-122"/>
                <a:cs typeface="Calibri" pitchFamily="34" charset="-120"/>
              </a:rPr>
              <a:t>LET'S BUILD IT</a:t>
            </a:r>
            <a:endParaRPr lang="en-US" sz="1500" dirty="0"/>
          </a:p>
        </p:txBody>
      </p:sp>
      <p:sp>
        <p:nvSpPr>
          <p:cNvPr id="5" name="Text 3"/>
          <p:cNvSpPr/>
          <p:nvPr/>
        </p:nvSpPr>
        <p:spPr>
          <a:xfrm>
            <a:off x="548640" y="2651760"/>
            <a:ext cx="1005840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Questions Before We Start?</a:t>
            </a:r>
            <a:endParaRPr lang="en-US" sz="4200" dirty="0"/>
          </a:p>
        </p:txBody>
      </p:sp>
      <p:sp>
        <p:nvSpPr>
          <p:cNvPr id="6" name="Text 4"/>
          <p:cNvSpPr/>
          <p:nvPr/>
        </p:nvSpPr>
        <p:spPr>
          <a:xfrm>
            <a:off x="548640" y="3749040"/>
            <a:ext cx="8686800" cy="731520"/>
          </a:xfrm>
          <a:prstGeom prst="rect">
            <a:avLst/>
          </a:prstGeom>
          <a:noFill/>
          <a:ln/>
        </p:spPr>
        <p:txBody>
          <a:bodyPr wrap="square" lIns="0" tIns="0" rIns="0" bIns="0" rtlCol="0" anchor="ctr"/>
          <a:lstStyle/>
          <a:p>
            <a:pPr marL="0" indent="0">
              <a:buNone/>
            </a:pPr>
            <a:r>
              <a:rPr lang="en-US" sz="1600" dirty="0">
                <a:solidFill>
                  <a:srgbClr val="CFEDEA"/>
                </a:solidFill>
                <a:latin typeface="Calibri" pitchFamily="34" charset="0"/>
                <a:ea typeface="Calibri" pitchFamily="34" charset="-122"/>
                <a:cs typeface="Calibri" pitchFamily="34" charset="-120"/>
              </a:rPr>
              <a:t>Form your teams, pick roles, and start with the SQL schema in Week 1. Reach out early if a module is blocking the rest of the team.</a:t>
            </a:r>
            <a:endParaRPr lang="en-US" sz="1600" dirty="0"/>
          </a:p>
        </p:txBody>
      </p:sp>
      <p:sp>
        <p:nvSpPr>
          <p:cNvPr id="7" name="Text 5"/>
          <p:cNvSpPr/>
          <p:nvPr/>
        </p:nvSpPr>
        <p:spPr>
          <a:xfrm>
            <a:off x="11368735" y="6446520"/>
            <a:ext cx="457200" cy="27432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TotalTime>
  <Words>1779</Words>
  <Application>Microsoft Office PowerPoint</Application>
  <PresentationFormat>Widescreen</PresentationFormat>
  <Paragraphs>258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Dr.Hamad Sherazi</cp:lastModifiedBy>
  <cp:revision>2</cp:revision>
  <dcterms:created xsi:type="dcterms:W3CDTF">2026-08-24T02:43:40Z</dcterms:created>
  <dcterms:modified xsi:type="dcterms:W3CDTF">2026-08-24T07:50:11Z</dcterms:modified>
</cp:coreProperties>
</file>